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3293D"/>
                </a:solidFill>
                <a:latin typeface="Arial"/>
              </a:rPr>
              <a:t>Approach time (s): ~30% faster</a:t>
            </a:r>
          </a:p>
        </c:rich>
      </c:tx>
      <c:layout/>
      <c:overlay val="0"/>
    </c:title>
    <c:autoTitleDeleted val="0"/>
    <c:plotArea>
      <c:barChart>
        <c:barDir val="col"/>
        <c:grouping val="clustered"/>
        <c:ser>
          <c:idx val="0"/>
          <c:order val="0"/>
          <c:tx>
            <c:strRef>
              <c:f>Sheet1!$B$1</c:f>
              <c:strCache>
                <c:ptCount val="1"/>
                <c:pt idx="0">
                  <c:v>Before tuning</c:v>
                </c:pt>
              </c:strCache>
            </c:strRef>
          </c:tx>
          <c:spPr>
            <a:solidFill>
              <a:srgbClr val="C9D9DE"/>
            </a:solidFill>
          </c:spPr>
          <c:cat>
            <c:strRef>
              <c:f>Sheet1!$A$2:$A$7</c:f>
              <c:strCache>
                <c:ptCount val="6"/>
                <c:pt idx="0">
                  <c:v>Case 1</c:v>
                </c:pt>
                <c:pt idx="1">
                  <c:v>Case 2</c:v>
                </c:pt>
                <c:pt idx="2">
                  <c:v>Case 3</c:v>
                </c:pt>
                <c:pt idx="3">
                  <c:v>Case 4</c:v>
                </c:pt>
                <c:pt idx="4">
                  <c:v>Case 5</c:v>
                </c:pt>
                <c:pt idx="5">
                  <c:v>Case 6</c:v>
                </c:pt>
              </c:strCache>
            </c:strRef>
          </c:cat>
          <c:val>
            <c:numRef>
              <c:f>Sheet1!$B$2:$B$7</c:f>
              <c:numCache>
                <c:formatCode>General</c:formatCode>
                <c:ptCount val="6"/>
                <c:pt idx="0">
                  <c:v>58.3</c:v>
                </c:pt>
                <c:pt idx="1">
                  <c:v>69.6</c:v>
                </c:pt>
                <c:pt idx="2">
                  <c:v>57.7</c:v>
                </c:pt>
                <c:pt idx="3">
                  <c:v>79.9</c:v>
                </c:pt>
                <c:pt idx="4">
                  <c:v>80.0</c:v>
                </c:pt>
                <c:pt idx="5">
                  <c:v>96.5</c:v>
                </c:pt>
              </c:numCache>
            </c:numRef>
          </c:val>
        </c:ser>
        <c:ser>
          <c:idx val="1"/>
          <c:order val="1"/>
          <c:tx>
            <c:strRef>
              <c:f>Sheet1!$C$1</c:f>
              <c:strCache>
                <c:ptCount val="1"/>
                <c:pt idx="0">
                  <c:v>After tuning</c:v>
                </c:pt>
              </c:strCache>
            </c:strRef>
          </c:tx>
          <c:spPr>
            <a:solidFill>
              <a:srgbClr val="0E7C86"/>
            </a:solidFill>
          </c:spPr>
          <c:cat>
            <c:strRef>
              <c:f>Sheet1!$A$2:$A$7</c:f>
              <c:strCache>
                <c:ptCount val="6"/>
                <c:pt idx="0">
                  <c:v>Case 1</c:v>
                </c:pt>
                <c:pt idx="1">
                  <c:v>Case 2</c:v>
                </c:pt>
                <c:pt idx="2">
                  <c:v>Case 3</c:v>
                </c:pt>
                <c:pt idx="3">
                  <c:v>Case 4</c:v>
                </c:pt>
                <c:pt idx="4">
                  <c:v>Case 5</c:v>
                </c:pt>
                <c:pt idx="5">
                  <c:v>Case 6</c:v>
                </c:pt>
              </c:strCache>
            </c:strRef>
          </c:cat>
          <c:val>
            <c:numRef>
              <c:f>Sheet1!$C$2:$C$7</c:f>
              <c:numCache>
                <c:formatCode>General</c:formatCode>
                <c:ptCount val="6"/>
                <c:pt idx="0">
                  <c:v>41.1</c:v>
                </c:pt>
                <c:pt idx="1">
                  <c:v>49.9</c:v>
                </c:pt>
                <c:pt idx="2">
                  <c:v>42.6</c:v>
                </c:pt>
                <c:pt idx="3">
                  <c:v>53.2</c:v>
                </c:pt>
                <c:pt idx="4">
                  <c:v>52.7</c:v>
                </c:pt>
                <c:pt idx="5">
                  <c:v>55.0</c:v>
                </c:pt>
              </c:numCache>
            </c:numRef>
          </c:val>
        </c:ser>
        <c:dLbls>
          <c:numFmt formatCode="0" sourceLinked="0"/>
          <c:txPr>
            <a:bodyPr/>
            <a:lstStyle/>
            <a:p>
              <a:pPr>
                <a:defRPr sz="900">
                  <a:solidFill>
                    <a:srgbClr val="5B6B78"/>
                  </a:solidFill>
                  <a:latin typeface="Aria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D9DE"/>
            </a:solidFill>
          </a:ln>
        </c:spPr>
        <c:txPr>
          <a:bodyPr/>
          <a:lstStyle/>
          <a:p>
            <a:pPr>
              <a:defRPr sz="1000">
                <a:solidFill>
                  <a:srgbClr val="5B6B78"/>
                </a:solidFill>
                <a:latin typeface="Arial"/>
              </a:defRPr>
            </a:pPr>
          </a:p>
        </c:txPr>
        <c:crossAx val="-2113994440"/>
        <c:crosses val="autoZero"/>
        <c:auto val="1"/>
        <c:lblAlgn val="ctr"/>
        <c:lblOffset val="100"/>
        <c:noMultiLvlLbl val="0"/>
      </c:catAx>
      <c:valAx>
        <c:axId val="-2113994440"/>
        <c:scaling>
          <c:max val="110.0"/>
        </c:scaling>
        <c:delete val="0"/>
        <c:axPos val="l"/>
        <c:majorGridlines>
          <c:spPr>
            <a:ln>
              <a:solidFill>
                <a:srgbClr val="E3EAED"/>
              </a:solidFill>
            </a:ln>
          </c:spPr>
        </c:majorGridlines>
        <c:majorTickMark val="out"/>
        <c:minorTickMark val="none"/>
        <c:tickLblPos val="nextTo"/>
        <c:spPr>
          <a:ln>
            <a:noFill/>
          </a:ln>
        </c:spPr>
        <c:txPr>
          <a:bodyPr/>
          <a:lstStyle/>
          <a:p>
            <a:pPr>
              <a:defRPr sz="1000">
                <a:solidFill>
                  <a:srgbClr val="5B6B78"/>
                </a:solidFill>
                <a:latin typeface="Arial"/>
              </a:defRPr>
            </a:pPr>
          </a:p>
        </c:txPr>
        <c:crossAx val="-2068027336"/>
        <c:crosses val="autoZero"/>
      </c:valAx>
    </c:plotArea>
    <c:legend>
      <c:legendPos val="b"/>
      <c:overlay val="0"/>
      <c:txPr>
        <a:bodyPr/>
        <a:lstStyle/>
        <a:p>
          <a:pPr>
            <a:defRPr sz="1100">
              <a:solidFill>
                <a:srgbClr val="5B6B78"/>
              </a:solidFill>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an underwater ROV that finds a target with its camera, centres on it, approaches without ever touching it, then backs off and surfaces. Because the real robot is expensive, every behaviour was developed and verified in the Stonefish simulator first, using the same ROS 2 + YOLO pipeline that runs on the real camera.</a:t>
            </a:r>
          </a:p>
          <a:p/>
          <a:p>
            <a:r>
              <a:t>Headline results: all 7 test cases pass against simulator ground truth, with zero contacts, and the latest tuning made the approach about 30% faster without reducing the stopping distance.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system starts from the kyushu_project root with ./start_pipeline.sh (option --case N selects the scenario). Stage 1 opens the Innomaker USB camera through its /dev/v4l/by-id path, so the device number can change without breaking anything. Stage 2 runs the real-camera YOLO model and publishes the object pixel position, which moves the simulated target in case 6. Stage 3 shows both annotated streams in rqt. Stage 4 runs the Stonefish YOLO model and publishes the centre error plus the bounding box. Stage 5 is the simulator with the Task2Manager controller.</a:t>
            </a:r>
          </a:p>
          <a:p/>
          <a:p>
            <a:r>
              <a:t>Measured live: camera 16.7-25 Hz, Stonefish detection 9.9 Hz, both YOLO detectors confident at 0.90.</a:t>
            </a:r>
          </a:p>
          <a:p/>
          <a:p>
            <a:r>
              <a:t>Why the robot originally did not move: the detector published on a different topic and format than the controller expected; the vertical thruster pair cancelled out; a 7.4 degree trim biased depth alignment; and the 'external' camera was actually the laptop webcam.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Mission: after a 20 s thruster sign calibration the robot searches (at most one full turn), aligns yaw then depth, and approaches. In the last 1.2 m the target fills the camera and YOLO becomes unreliable (about 30% dropouts below 1 m), so heading and depth are locked and the robot creeps the rest of the way on odometry. It stops about 0.2 m from the target, holds 3 s, backs off 0.5 m and surfaces at up to 0.10 m/s.</a:t>
            </a:r>
          </a:p>
          <a:p/>
          <a:p>
            <a:r>
              <a:t>Safety: (1) the speed profile only plans with 0.02 m/s^2 of braking, less than half of what was measured (0.111 m/s^2 per unit thrust command, about 0.045 m/s^2 at the command limit); (2) a stopping-distance guard checks the real speed every control step; (3) during the terminal approach a detection may only make the range shorter; (4) a target lost close by is never searched for on the spot - the robot retreats to where detection is reliable; (5) a stall detector catches contact; (6) the moving target in case 6 is never approached blind.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number here is measured against simulator ground truth, not the robot's own estimate. Stop gap is the distance from the front of the hull to the target surface when the robot stopped; lateral and vertical are the offsets between the camera axis and the target centre.</a:t>
            </a:r>
          </a:p>
          <a:p/>
          <a:p>
            <a:r>
              <a:t>No run made contact. Cases 1-5 stop 0.27-0.37 m from the target (the design target is 0.2 m; the range model is rounded so errors make it stop early). Within 1 m of the target the speed never exceeded 0.10 m/s. Case 4 and 5 start with the target behind the robot, so it first searches. Case 6 is driven by the real camera and stops 1.0 m away by design. Case 7 has no target: one full search turn, then a safe surfacing.</a:t>
            </a:r>
          </a:p>
          <a:p/>
          <a:p>
            <a:r>
              <a:t>Chart: after the speed-up (braking-aware profile, acceleration feed-forward) the approach is 25-43% faster and back-off went from 20.4 s to 8.6 s, while the stopping distance increased.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ADD THE VIDEOS: click the dashed frame, press Delete (it is one group), then Insert &gt; Video &gt; This Device. In Video Format &gt; Size set the video to 5.95" x 3.35" and position it at the frame's spot: Video 1 left 0.6", top 1.8"; Video 2 left 6.78", top 1.8". If you show different cases, update the caption and the four timeline boxes below each video (times are simulation seconds from the logged runs).</a:t>
            </a:r>
          </a:p>
          <a:p/>
          <a:p>
            <a:r>
              <a:t>Talking points: Case 1 is the baseline - target straight ahead 8 m away; the robot aligns in about a second, approaches, locks heading and depth for the last 1.2 m and stops 0.37 m from the target. Case 5 is the hardest static case - the target starts behind and below, so the robot searches about 180 degrees, aligns yaw and then depth, and completes the same safe approach.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TO ADD THE VIDEO: delete the dashed frame group, Insert &gt; Video &gt; This Device, then size it to 6.4" x 3.6" at left 0.6", top 1.8".</a:t>
            </a:r>
          </a:p>
          <a:p/>
          <a:p>
            <a:r>
              <a:t>ROV mode: the same controller can be switched to manual control with M (keyboard or game controller); SPACE or the B button stops all thrusters immediately.</a:t>
            </a:r>
          </a:p>
          <a:p/>
          <a:p>
            <a:r>
              <a:t>Next steps: (1) YOLO loses confidence closer than about 1 m in the simulator and fails in low light on the real camera, so both datasets need those images; (2) the controller constants are fitted to the simulated 2.4 m hull and must be re-measured for KYUBIC; (3) the terminal approach depends on odometry, so DVL accuracy must be checked; (4) first real trials should be tethered and slower than the simulation.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itle 1"/>
          <p:cNvSpPr>
            <a:spLocks noGrp="1"/>
          </p:cNvSpPr>
          <p:nvPr>
            <p:ph type="title"/>
          </p:nvPr>
        </p:nvSpPr>
        <p:spPr>
          <a:xfrm>
            <a:off x="640080" y="1051560"/>
            <a:ext cx="6035040" cy="1920240"/>
          </a:xfrm>
        </p:spPr>
        <p:txBody>
          <a:bodyPr lIns="0" rIns="0" tIns="0" bIns="0" anchor="t" wrap="square"/>
          <a:lstStyle/>
          <a:p>
            <a:pPr algn="l"/>
            <a:r>
              <a:rPr sz="4000" b="1">
                <a:solidFill>
                  <a:srgbClr val="FFFFFF"/>
                </a:solidFill>
                <a:latin typeface="Arial"/>
              </a:rPr>
              <a:t>Autonomous Visual Servoing for an Underwater ROV</a:t>
            </a:r>
          </a:p>
        </p:txBody>
      </p:sp>
      <p:sp>
        <p:nvSpPr>
          <p:cNvPr id="3" name="TextBox 2"/>
          <p:cNvSpPr txBox="1"/>
          <p:nvPr/>
        </p:nvSpPr>
        <p:spPr>
          <a:xfrm>
            <a:off x="640080" y="3063240"/>
            <a:ext cx="5852160" cy="822960"/>
          </a:xfrm>
          <a:prstGeom prst="rect">
            <a:avLst/>
          </a:prstGeom>
          <a:noFill/>
        </p:spPr>
        <p:txBody>
          <a:bodyPr wrap="square" lIns="0" rIns="0" tIns="0" bIns="0" anchor="t">
            <a:spAutoFit/>
          </a:bodyPr>
          <a:lstStyle/>
          <a:p>
            <a:pPr algn="l"/>
            <a:r>
              <a:rPr sz="1700" b="0" i="0">
                <a:solidFill>
                  <a:srgbClr val="5FC9C2"/>
                </a:solidFill>
                <a:latin typeface="Arial"/>
              </a:rPr>
              <a:t>Camera to YOLO detection to a safe approach, stop and surfacing, verified end-to-end in the Stonefish simulator</a:t>
            </a:r>
          </a:p>
        </p:txBody>
      </p:sp>
      <p:sp>
        <p:nvSpPr>
          <p:cNvPr id="4" name="TextBox 3"/>
          <p:cNvSpPr txBox="1"/>
          <p:nvPr/>
        </p:nvSpPr>
        <p:spPr>
          <a:xfrm>
            <a:off x="640080" y="4069080"/>
            <a:ext cx="5852160" cy="320040"/>
          </a:xfrm>
          <a:prstGeom prst="rect">
            <a:avLst/>
          </a:prstGeom>
          <a:noFill/>
        </p:spPr>
        <p:txBody>
          <a:bodyPr wrap="square" lIns="0" rIns="0" tIns="0" bIns="0" anchor="t">
            <a:spAutoFit/>
          </a:bodyPr>
          <a:lstStyle/>
          <a:p>
            <a:pPr algn="l"/>
            <a:r>
              <a:rPr sz="1400" b="1" i="0">
                <a:solidFill>
                  <a:srgbClr val="FFFFFF"/>
                </a:solidFill>
                <a:latin typeface="Arial"/>
              </a:rPr>
              <a:t>Krish Gupta</a:t>
            </a:r>
            <a:r>
              <a:rPr sz="1400" b="0" i="0">
                <a:solidFill>
                  <a:srgbClr val="8FA9B8"/>
                </a:solidFill>
                <a:latin typeface="Arial"/>
              </a:rPr>
              <a:t>   ·   Kyushu Project   ·   October 2026</a:t>
            </a:r>
          </a:p>
        </p:txBody>
      </p:sp>
      <p:sp>
        <p:nvSpPr>
          <p:cNvPr id="5" name="Stat 1"/>
          <p:cNvSpPr/>
          <p:nvPr/>
        </p:nvSpPr>
        <p:spPr>
          <a:xfrm>
            <a:off x="640080" y="4892040"/>
            <a:ext cx="1828800" cy="1188720"/>
          </a:xfrm>
          <a:prstGeom prst="roundRect">
            <a:avLst>
              <a:gd name="adj" fmla="val 8000"/>
            </a:avLst>
          </a:prstGeom>
          <a:solidFill>
            <a:srgbClr val="132E48"/>
          </a:solidFill>
          <a:ln>
            <a:noFill/>
          </a:ln>
        </p:spPr>
        <p:txBody>
          <a:bodyPr rtlCol="0" anchor="ctr"/>
          <a:lstStyle/>
          <a:p/>
        </p:txBody>
      </p:sp>
      <p:sp>
        <p:nvSpPr>
          <p:cNvPr id="6" name="TextBox 5"/>
          <p:cNvSpPr txBox="1"/>
          <p:nvPr/>
        </p:nvSpPr>
        <p:spPr>
          <a:xfrm>
            <a:off x="822959" y="5001768"/>
            <a:ext cx="1463040" cy="548640"/>
          </a:xfrm>
          <a:prstGeom prst="rect">
            <a:avLst/>
          </a:prstGeom>
          <a:noFill/>
        </p:spPr>
        <p:txBody>
          <a:bodyPr wrap="square" lIns="0" rIns="0" tIns="0" bIns="0" anchor="t">
            <a:spAutoFit/>
          </a:bodyPr>
          <a:lstStyle/>
          <a:p>
            <a:pPr algn="l"/>
            <a:r>
              <a:rPr sz="3000" b="1" i="0">
                <a:solidFill>
                  <a:srgbClr val="F2C230"/>
                </a:solidFill>
                <a:latin typeface="Arial"/>
              </a:rPr>
              <a:t>7 / 7</a:t>
            </a:r>
          </a:p>
        </p:txBody>
      </p:sp>
      <p:sp>
        <p:nvSpPr>
          <p:cNvPr id="7" name="TextBox 6"/>
          <p:cNvSpPr txBox="1"/>
          <p:nvPr/>
        </p:nvSpPr>
        <p:spPr>
          <a:xfrm>
            <a:off x="822959" y="5577840"/>
            <a:ext cx="1554480" cy="365760"/>
          </a:xfrm>
          <a:prstGeom prst="rect">
            <a:avLst/>
          </a:prstGeom>
          <a:noFill/>
        </p:spPr>
        <p:txBody>
          <a:bodyPr wrap="square" lIns="0" rIns="0" tIns="0" bIns="0" anchor="t">
            <a:spAutoFit/>
          </a:bodyPr>
          <a:lstStyle/>
          <a:p>
            <a:pPr algn="l"/>
            <a:r>
              <a:rPr sz="1200" b="0" i="0">
                <a:solidFill>
                  <a:srgbClr val="FFFFFF"/>
                </a:solidFill>
                <a:latin typeface="Arial"/>
              </a:rPr>
              <a:t>test cases passed</a:t>
            </a:r>
          </a:p>
        </p:txBody>
      </p:sp>
      <p:sp>
        <p:nvSpPr>
          <p:cNvPr id="8" name="Stat 2"/>
          <p:cNvSpPr/>
          <p:nvPr/>
        </p:nvSpPr>
        <p:spPr>
          <a:xfrm>
            <a:off x="2651760" y="4892040"/>
            <a:ext cx="1828800" cy="1188720"/>
          </a:xfrm>
          <a:prstGeom prst="roundRect">
            <a:avLst>
              <a:gd name="adj" fmla="val 8000"/>
            </a:avLst>
          </a:prstGeom>
          <a:solidFill>
            <a:srgbClr val="132E48"/>
          </a:solidFill>
          <a:ln>
            <a:noFill/>
          </a:ln>
        </p:spPr>
        <p:txBody>
          <a:bodyPr rtlCol="0" anchor="ctr"/>
          <a:lstStyle/>
          <a:p/>
        </p:txBody>
      </p:sp>
      <p:sp>
        <p:nvSpPr>
          <p:cNvPr id="9" name="TextBox 8"/>
          <p:cNvSpPr txBox="1"/>
          <p:nvPr/>
        </p:nvSpPr>
        <p:spPr>
          <a:xfrm>
            <a:off x="2834640" y="5001768"/>
            <a:ext cx="1463040" cy="548640"/>
          </a:xfrm>
          <a:prstGeom prst="rect">
            <a:avLst/>
          </a:prstGeom>
          <a:noFill/>
        </p:spPr>
        <p:txBody>
          <a:bodyPr wrap="square" lIns="0" rIns="0" tIns="0" bIns="0" anchor="t">
            <a:spAutoFit/>
          </a:bodyPr>
          <a:lstStyle/>
          <a:p>
            <a:pPr algn="l"/>
            <a:r>
              <a:rPr sz="3000" b="1" i="0">
                <a:solidFill>
                  <a:srgbClr val="F2C230"/>
                </a:solidFill>
                <a:latin typeface="Arial"/>
              </a:rPr>
              <a:t>0</a:t>
            </a:r>
          </a:p>
        </p:txBody>
      </p:sp>
      <p:sp>
        <p:nvSpPr>
          <p:cNvPr id="10" name="TextBox 9"/>
          <p:cNvSpPr txBox="1"/>
          <p:nvPr/>
        </p:nvSpPr>
        <p:spPr>
          <a:xfrm>
            <a:off x="2834640" y="5577840"/>
            <a:ext cx="1554480" cy="365760"/>
          </a:xfrm>
          <a:prstGeom prst="rect">
            <a:avLst/>
          </a:prstGeom>
          <a:noFill/>
        </p:spPr>
        <p:txBody>
          <a:bodyPr wrap="square" lIns="0" rIns="0" tIns="0" bIns="0" anchor="t">
            <a:spAutoFit/>
          </a:bodyPr>
          <a:lstStyle/>
          <a:p>
            <a:pPr algn="l"/>
            <a:r>
              <a:rPr sz="1200" b="0" i="0">
                <a:solidFill>
                  <a:srgbClr val="FFFFFF"/>
                </a:solidFill>
                <a:latin typeface="Arial"/>
              </a:rPr>
              <a:t>contacts with the target</a:t>
            </a:r>
          </a:p>
        </p:txBody>
      </p:sp>
      <p:sp>
        <p:nvSpPr>
          <p:cNvPr id="11" name="Stat 3"/>
          <p:cNvSpPr/>
          <p:nvPr/>
        </p:nvSpPr>
        <p:spPr>
          <a:xfrm>
            <a:off x="4663440" y="4892040"/>
            <a:ext cx="1828800" cy="1188720"/>
          </a:xfrm>
          <a:prstGeom prst="roundRect">
            <a:avLst>
              <a:gd name="adj" fmla="val 8000"/>
            </a:avLst>
          </a:prstGeom>
          <a:solidFill>
            <a:srgbClr val="132E48"/>
          </a:solidFill>
          <a:ln>
            <a:noFill/>
          </a:ln>
        </p:spPr>
        <p:txBody>
          <a:bodyPr rtlCol="0" anchor="ctr"/>
          <a:lstStyle/>
          <a:p/>
        </p:txBody>
      </p:sp>
      <p:sp>
        <p:nvSpPr>
          <p:cNvPr id="12" name="TextBox 11"/>
          <p:cNvSpPr txBox="1"/>
          <p:nvPr/>
        </p:nvSpPr>
        <p:spPr>
          <a:xfrm>
            <a:off x="4846320" y="5001768"/>
            <a:ext cx="1463040" cy="548640"/>
          </a:xfrm>
          <a:prstGeom prst="rect">
            <a:avLst/>
          </a:prstGeom>
          <a:noFill/>
        </p:spPr>
        <p:txBody>
          <a:bodyPr wrap="square" lIns="0" rIns="0" tIns="0" bIns="0" anchor="t">
            <a:spAutoFit/>
          </a:bodyPr>
          <a:lstStyle/>
          <a:p>
            <a:pPr algn="l"/>
            <a:r>
              <a:rPr sz="3000" b="1" i="0">
                <a:solidFill>
                  <a:srgbClr val="F2C230"/>
                </a:solidFill>
                <a:latin typeface="Arial"/>
              </a:rPr>
              <a:t>≈30%</a:t>
            </a:r>
          </a:p>
        </p:txBody>
      </p:sp>
      <p:sp>
        <p:nvSpPr>
          <p:cNvPr id="13" name="TextBox 12"/>
          <p:cNvSpPr txBox="1"/>
          <p:nvPr/>
        </p:nvSpPr>
        <p:spPr>
          <a:xfrm>
            <a:off x="4846320" y="5577840"/>
            <a:ext cx="1554480" cy="365760"/>
          </a:xfrm>
          <a:prstGeom prst="rect">
            <a:avLst/>
          </a:prstGeom>
          <a:noFill/>
        </p:spPr>
        <p:txBody>
          <a:bodyPr wrap="square" lIns="0" rIns="0" tIns="0" bIns="0" anchor="t">
            <a:spAutoFit/>
          </a:bodyPr>
          <a:lstStyle/>
          <a:p>
            <a:pPr algn="l"/>
            <a:r>
              <a:rPr sz="1200" b="0" i="0">
                <a:solidFill>
                  <a:srgbClr val="FFFFFF"/>
                </a:solidFill>
                <a:latin typeface="Arial"/>
              </a:rPr>
              <a:t>faster approach</a:t>
            </a:r>
          </a:p>
        </p:txBody>
      </p:sp>
      <p:pic>
        <p:nvPicPr>
          <p:cNvPr id="14" name="Stonefish YOLO view" descr="sim_approach.png"/>
          <p:cNvPicPr>
            <a:picLocks noChangeAspect="1"/>
          </p:cNvPicPr>
          <p:nvPr/>
        </p:nvPicPr>
        <p:blipFill>
          <a:blip r:embed="rId2"/>
          <a:stretch>
            <a:fillRect/>
          </a:stretch>
        </p:blipFill>
        <p:spPr>
          <a:xfrm>
            <a:off x="7086600" y="868680"/>
            <a:ext cx="4480560" cy="3360420"/>
          </a:xfrm>
          <a:prstGeom prst="rect">
            <a:avLst/>
          </a:prstGeom>
        </p:spPr>
      </p:pic>
      <p:sp>
        <p:nvSpPr>
          <p:cNvPr id="15" name="TextBox 14"/>
          <p:cNvSpPr txBox="1"/>
          <p:nvPr/>
        </p:nvSpPr>
        <p:spPr>
          <a:xfrm>
            <a:off x="7086600" y="4325112"/>
            <a:ext cx="4480560" cy="274320"/>
          </a:xfrm>
          <a:prstGeom prst="rect">
            <a:avLst/>
          </a:prstGeom>
          <a:noFill/>
        </p:spPr>
        <p:txBody>
          <a:bodyPr wrap="square" lIns="0" rIns="0" tIns="0" bIns="0" anchor="t">
            <a:spAutoFit/>
          </a:bodyPr>
          <a:lstStyle/>
          <a:p>
            <a:pPr algn="l"/>
            <a:r>
              <a:rPr sz="1100" b="0" i="0">
                <a:solidFill>
                  <a:srgbClr val="8FA9B8"/>
                </a:solidFill>
                <a:latin typeface="Arial"/>
              </a:rPr>
              <a:t>Stonefish front camera · YOLO detects the target (confidence 0.90)</a:t>
            </a:r>
          </a:p>
        </p:txBody>
      </p:sp>
      <p:pic>
        <p:nvPicPr>
          <p:cNvPr id="16" name="Real camera view" descr="real_det.png"/>
          <p:cNvPicPr>
            <a:picLocks noChangeAspect="1"/>
          </p:cNvPicPr>
          <p:nvPr/>
        </p:nvPicPr>
        <p:blipFill>
          <a:blip r:embed="rId3"/>
          <a:stretch>
            <a:fillRect/>
          </a:stretch>
        </p:blipFill>
        <p:spPr>
          <a:xfrm>
            <a:off x="7086600" y="4709160"/>
            <a:ext cx="1828800" cy="1371600"/>
          </a:xfrm>
          <a:prstGeom prst="rect">
            <a:avLst/>
          </a:prstGeom>
        </p:spPr>
      </p:pic>
      <p:sp>
        <p:nvSpPr>
          <p:cNvPr id="17" name="TextBox 16"/>
          <p:cNvSpPr txBox="1"/>
          <p:nvPr/>
        </p:nvSpPr>
        <p:spPr>
          <a:xfrm>
            <a:off x="9098280" y="4754880"/>
            <a:ext cx="2468880" cy="1188720"/>
          </a:xfrm>
          <a:prstGeom prst="rect">
            <a:avLst/>
          </a:prstGeom>
          <a:noFill/>
        </p:spPr>
        <p:txBody>
          <a:bodyPr wrap="square" lIns="0" rIns="0" tIns="0" bIns="0" anchor="t">
            <a:spAutoFit/>
          </a:bodyPr>
          <a:lstStyle/>
          <a:p>
            <a:pPr algn="l">
              <a:spcAft>
                <a:spcPts val="400"/>
              </a:spcAft>
            </a:pPr>
            <a:r>
              <a:rPr sz="1200" b="1" i="0">
                <a:solidFill>
                  <a:srgbClr val="FFFFFF"/>
                </a:solidFill>
                <a:latin typeface="Arial"/>
              </a:rPr>
              <a:t>Same pipeline, real camera</a:t>
            </a:r>
          </a:p>
          <a:p>
            <a:pPr algn="l">
              <a:spcAft>
                <a:spcPts val="400"/>
              </a:spcAft>
            </a:pPr>
            <a:r>
              <a:rPr sz="1200" b="0" i="0">
                <a:solidFill>
                  <a:srgbClr val="8FA9B8"/>
                </a:solidFill>
                <a:latin typeface="Arial"/>
              </a:rPr>
              <a:t>Real-camera YOLO finds the physical target (0.90) and moves the simulated one in case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64240" cy="685800"/>
          </a:xfrm>
        </p:spPr>
        <p:txBody>
          <a:bodyPr lIns="0" rIns="0" tIns="0" bIns="0" anchor="t" wrap="square"/>
          <a:lstStyle/>
          <a:p>
            <a:pPr algn="l"/>
            <a:r>
              <a:rPr sz="3200" b="1">
                <a:solidFill>
                  <a:srgbClr val="13293D"/>
                </a:solidFill>
                <a:latin typeface="Arial"/>
              </a:rPr>
              <a:t>One launcher connects camera, YOLO and simulator</a:t>
            </a:r>
          </a:p>
        </p:txBody>
      </p:sp>
      <p:sp>
        <p:nvSpPr>
          <p:cNvPr id="3" name="TextBox 2"/>
          <p:cNvSpPr txBox="1"/>
          <p:nvPr/>
        </p:nvSpPr>
        <p:spPr>
          <a:xfrm>
            <a:off x="548640" y="1078992"/>
            <a:ext cx="11064240" cy="365760"/>
          </a:xfrm>
          <a:prstGeom prst="rect">
            <a:avLst/>
          </a:prstGeom>
          <a:noFill/>
        </p:spPr>
        <p:txBody>
          <a:bodyPr wrap="square" lIns="0" rIns="0" tIns="0" bIns="0" anchor="t">
            <a:spAutoFit/>
          </a:bodyPr>
          <a:lstStyle/>
          <a:p>
            <a:pPr algn="l"/>
            <a:r>
              <a:rPr sz="1500" b="0" i="0">
                <a:solidFill>
                  <a:srgbClr val="5B6B78"/>
                </a:solidFill>
                <a:latin typeface="Arial"/>
              </a:rPr>
              <a:t>./start_pipeline.sh starts all five stages in order, logs each one, and stops them together</a:t>
            </a:r>
          </a:p>
        </p:txBody>
      </p:sp>
      <p:sp>
        <p:nvSpPr>
          <p:cNvPr id="4" name="Stage 1"/>
          <p:cNvSpPr/>
          <p:nvPr/>
        </p:nvSpPr>
        <p:spPr>
          <a:xfrm>
            <a:off x="548640" y="1691640"/>
            <a:ext cx="2084831" cy="2240280"/>
          </a:xfrm>
          <a:prstGeom prst="roundRect">
            <a:avLst>
              <a:gd name="adj" fmla="val 6000"/>
            </a:avLst>
          </a:prstGeom>
          <a:solidFill>
            <a:srgbClr val="E8F2F4"/>
          </a:solidFill>
          <a:ln>
            <a:noFill/>
          </a:ln>
        </p:spPr>
        <p:txBody>
          <a:bodyPr rtlCol="0" anchor="ctr"/>
          <a:lstStyle/>
          <a:p/>
        </p:txBody>
      </p:sp>
      <p:sp>
        <p:nvSpPr>
          <p:cNvPr id="5" name="Oval 4"/>
          <p:cNvSpPr/>
          <p:nvPr/>
        </p:nvSpPr>
        <p:spPr>
          <a:xfrm>
            <a:off x="731520" y="1874520"/>
            <a:ext cx="438912" cy="438912"/>
          </a:xfrm>
          <a:prstGeom prst="ellipse">
            <a:avLst/>
          </a:prstGeom>
          <a:solidFill>
            <a:srgbClr val="0E7C86"/>
          </a:solidFill>
          <a:ln>
            <a:noFill/>
          </a:ln>
        </p:spPr>
        <p:txBody>
          <a:bodyPr rtlCol="0" anchor="ctr" lIns="0" rIns="0" tIns="0" bIns="0"/>
          <a:lstStyle/>
          <a:p>
            <a:pPr algn="ctr"/>
            <a:r>
              <a:rPr sz="1400" b="1">
                <a:solidFill>
                  <a:srgbClr val="FFFFFF"/>
                </a:solidFill>
                <a:latin typeface="Arial"/>
              </a:rPr>
              <a:t>1</a:t>
            </a:r>
          </a:p>
        </p:txBody>
      </p:sp>
      <p:sp>
        <p:nvSpPr>
          <p:cNvPr id="6" name="TextBox 5"/>
          <p:cNvSpPr txBox="1"/>
          <p:nvPr/>
        </p:nvSpPr>
        <p:spPr>
          <a:xfrm>
            <a:off x="731520" y="2423160"/>
            <a:ext cx="1764791" cy="320040"/>
          </a:xfrm>
          <a:prstGeom prst="rect">
            <a:avLst/>
          </a:prstGeom>
          <a:noFill/>
        </p:spPr>
        <p:txBody>
          <a:bodyPr wrap="square" lIns="0" rIns="0" tIns="0" bIns="0" anchor="t">
            <a:spAutoFit/>
          </a:bodyPr>
          <a:lstStyle/>
          <a:p>
            <a:pPr algn="l"/>
            <a:r>
              <a:rPr sz="1500" b="1" i="0">
                <a:solidFill>
                  <a:srgbClr val="13293D"/>
                </a:solidFill>
                <a:latin typeface="Arial"/>
              </a:rPr>
              <a:t>External camera</a:t>
            </a:r>
          </a:p>
        </p:txBody>
      </p:sp>
      <p:sp>
        <p:nvSpPr>
          <p:cNvPr id="7" name="TextBox 6"/>
          <p:cNvSpPr txBox="1"/>
          <p:nvPr/>
        </p:nvSpPr>
        <p:spPr>
          <a:xfrm>
            <a:off x="731520" y="2761488"/>
            <a:ext cx="1764791" cy="548640"/>
          </a:xfrm>
          <a:prstGeom prst="rect">
            <a:avLst/>
          </a:prstGeom>
          <a:noFill/>
        </p:spPr>
        <p:txBody>
          <a:bodyPr wrap="square" lIns="0" rIns="0" tIns="0" bIns="0" anchor="t">
            <a:spAutoFit/>
          </a:bodyPr>
          <a:lstStyle/>
          <a:p>
            <a:pPr algn="l"/>
            <a:r>
              <a:rPr sz="1200" b="0" i="0">
                <a:solidFill>
                  <a:srgbClr val="13293D"/>
                </a:solidFill>
                <a:latin typeface="Arial"/>
              </a:rPr>
              <a:t>Innomaker USB camera by stable by-id path</a:t>
            </a:r>
          </a:p>
        </p:txBody>
      </p:sp>
      <p:sp>
        <p:nvSpPr>
          <p:cNvPr id="8" name="TextBox 7"/>
          <p:cNvSpPr txBox="1"/>
          <p:nvPr/>
        </p:nvSpPr>
        <p:spPr>
          <a:xfrm>
            <a:off x="731520" y="3264408"/>
            <a:ext cx="1764791" cy="228600"/>
          </a:xfrm>
          <a:prstGeom prst="rect">
            <a:avLst/>
          </a:prstGeom>
          <a:noFill/>
        </p:spPr>
        <p:txBody>
          <a:bodyPr wrap="square" lIns="0" rIns="0" tIns="0" bIns="0" anchor="t">
            <a:spAutoFit/>
          </a:bodyPr>
          <a:lstStyle/>
          <a:p>
            <a:pPr algn="l"/>
            <a:r>
              <a:rPr sz="1100" b="1" i="0">
                <a:solidFill>
                  <a:srgbClr val="0E7C86"/>
                </a:solidFill>
                <a:latin typeface="Arial"/>
              </a:rPr>
              <a:t>640×480 @ ~25 Hz</a:t>
            </a:r>
          </a:p>
        </p:txBody>
      </p:sp>
      <p:sp>
        <p:nvSpPr>
          <p:cNvPr id="9" name="Topic 1"/>
          <p:cNvSpPr txBox="1"/>
          <p:nvPr/>
        </p:nvSpPr>
        <p:spPr>
          <a:xfrm>
            <a:off x="731520" y="3502152"/>
            <a:ext cx="1764791" cy="365760"/>
          </a:xfrm>
          <a:prstGeom prst="rect">
            <a:avLst/>
          </a:prstGeom>
          <a:noFill/>
        </p:spPr>
        <p:txBody>
          <a:bodyPr wrap="square" lIns="0" rIns="0" tIns="0" bIns="0" anchor="t">
            <a:spAutoFit/>
          </a:bodyPr>
          <a:lstStyle/>
          <a:p>
            <a:pPr algn="l"/>
            <a:r>
              <a:rPr sz="1000" b="0" i="0">
                <a:solidFill>
                  <a:srgbClr val="5B6B78"/>
                </a:solidFill>
                <a:latin typeface="Arial"/>
              </a:rPr>
              <a:t>/external_camera/image_raw</a:t>
            </a:r>
          </a:p>
        </p:txBody>
      </p:sp>
      <p:sp>
        <p:nvSpPr>
          <p:cNvPr id="10" name="Right Arrow 9"/>
          <p:cNvSpPr/>
          <p:nvPr/>
        </p:nvSpPr>
        <p:spPr>
          <a:xfrm>
            <a:off x="2642615" y="2729484"/>
            <a:ext cx="146304" cy="164592"/>
          </a:xfrm>
          <a:prstGeom prst="rightArrow">
            <a:avLst/>
          </a:prstGeom>
          <a:solidFill>
            <a:srgbClr val="0E7C86"/>
          </a:solidFill>
          <a:ln>
            <a:noFill/>
          </a:ln>
        </p:spPr>
        <p:txBody>
          <a:bodyPr rtlCol="0" anchor="ctr"/>
          <a:lstStyle/>
          <a:p>
            <a:pPr algn="ctr"/>
          </a:p>
        </p:txBody>
      </p:sp>
      <p:sp>
        <p:nvSpPr>
          <p:cNvPr id="11" name="Stage 2"/>
          <p:cNvSpPr/>
          <p:nvPr/>
        </p:nvSpPr>
        <p:spPr>
          <a:xfrm>
            <a:off x="2798064" y="1691640"/>
            <a:ext cx="2084831" cy="2240280"/>
          </a:xfrm>
          <a:prstGeom prst="roundRect">
            <a:avLst>
              <a:gd name="adj" fmla="val 6000"/>
            </a:avLst>
          </a:prstGeom>
          <a:solidFill>
            <a:srgbClr val="E8F2F4"/>
          </a:solidFill>
          <a:ln>
            <a:noFill/>
          </a:ln>
        </p:spPr>
        <p:txBody>
          <a:bodyPr rtlCol="0" anchor="ctr"/>
          <a:lstStyle/>
          <a:p/>
        </p:txBody>
      </p:sp>
      <p:sp>
        <p:nvSpPr>
          <p:cNvPr id="12" name="Oval 11"/>
          <p:cNvSpPr/>
          <p:nvPr/>
        </p:nvSpPr>
        <p:spPr>
          <a:xfrm>
            <a:off x="2980944" y="1874520"/>
            <a:ext cx="438912" cy="438912"/>
          </a:xfrm>
          <a:prstGeom prst="ellipse">
            <a:avLst/>
          </a:prstGeom>
          <a:solidFill>
            <a:srgbClr val="0E7C86"/>
          </a:solidFill>
          <a:ln>
            <a:noFill/>
          </a:ln>
        </p:spPr>
        <p:txBody>
          <a:bodyPr rtlCol="0" anchor="ctr" lIns="0" rIns="0" tIns="0" bIns="0"/>
          <a:lstStyle/>
          <a:p>
            <a:pPr algn="ctr"/>
            <a:r>
              <a:rPr sz="1400" b="1">
                <a:solidFill>
                  <a:srgbClr val="FFFFFF"/>
                </a:solidFill>
                <a:latin typeface="Arial"/>
              </a:rPr>
              <a:t>2</a:t>
            </a:r>
          </a:p>
        </p:txBody>
      </p:sp>
      <p:sp>
        <p:nvSpPr>
          <p:cNvPr id="13" name="TextBox 12"/>
          <p:cNvSpPr txBox="1"/>
          <p:nvPr/>
        </p:nvSpPr>
        <p:spPr>
          <a:xfrm>
            <a:off x="2980944" y="2423160"/>
            <a:ext cx="1764791" cy="320040"/>
          </a:xfrm>
          <a:prstGeom prst="rect">
            <a:avLst/>
          </a:prstGeom>
          <a:noFill/>
        </p:spPr>
        <p:txBody>
          <a:bodyPr wrap="square" lIns="0" rIns="0" tIns="0" bIns="0" anchor="t">
            <a:spAutoFit/>
          </a:bodyPr>
          <a:lstStyle/>
          <a:p>
            <a:pPr algn="l"/>
            <a:r>
              <a:rPr sz="1500" b="1" i="0">
                <a:solidFill>
                  <a:srgbClr val="13293D"/>
                </a:solidFill>
                <a:latin typeface="Arial"/>
              </a:rPr>
              <a:t>Real-camera YOLO</a:t>
            </a:r>
          </a:p>
        </p:txBody>
      </p:sp>
      <p:sp>
        <p:nvSpPr>
          <p:cNvPr id="14" name="TextBox 13"/>
          <p:cNvSpPr txBox="1"/>
          <p:nvPr/>
        </p:nvSpPr>
        <p:spPr>
          <a:xfrm>
            <a:off x="2980944" y="2761488"/>
            <a:ext cx="1764791" cy="548640"/>
          </a:xfrm>
          <a:prstGeom prst="rect">
            <a:avLst/>
          </a:prstGeom>
          <a:noFill/>
        </p:spPr>
        <p:txBody>
          <a:bodyPr wrap="square" lIns="0" rIns="0" tIns="0" bIns="0" anchor="t">
            <a:spAutoFit/>
          </a:bodyPr>
          <a:lstStyle/>
          <a:p>
            <a:pPr algn="l"/>
            <a:r>
              <a:rPr sz="1200" b="0" i="0">
                <a:solidFill>
                  <a:srgbClr val="13293D"/>
                </a:solidFill>
                <a:latin typeface="Arial"/>
              </a:rPr>
              <a:t>real_camera_v1 model on the live feed</a:t>
            </a:r>
          </a:p>
        </p:txBody>
      </p:sp>
      <p:sp>
        <p:nvSpPr>
          <p:cNvPr id="15" name="TextBox 14"/>
          <p:cNvSpPr txBox="1"/>
          <p:nvPr/>
        </p:nvSpPr>
        <p:spPr>
          <a:xfrm>
            <a:off x="2980944" y="3264408"/>
            <a:ext cx="1764791" cy="228600"/>
          </a:xfrm>
          <a:prstGeom prst="rect">
            <a:avLst/>
          </a:prstGeom>
          <a:noFill/>
        </p:spPr>
        <p:txBody>
          <a:bodyPr wrap="square" lIns="0" rIns="0" tIns="0" bIns="0" anchor="t">
            <a:spAutoFit/>
          </a:bodyPr>
          <a:lstStyle/>
          <a:p>
            <a:pPr algn="l"/>
            <a:r>
              <a:rPr sz="1100" b="1" i="0">
                <a:solidFill>
                  <a:srgbClr val="0E7C86"/>
                </a:solidFill>
                <a:latin typeface="Arial"/>
              </a:rPr>
              <a:t>~28 Hz, confidence 0.90</a:t>
            </a:r>
          </a:p>
        </p:txBody>
      </p:sp>
      <p:sp>
        <p:nvSpPr>
          <p:cNvPr id="16" name="Topic 2"/>
          <p:cNvSpPr txBox="1"/>
          <p:nvPr/>
        </p:nvSpPr>
        <p:spPr>
          <a:xfrm>
            <a:off x="2980944" y="3502152"/>
            <a:ext cx="1764791" cy="365760"/>
          </a:xfrm>
          <a:prstGeom prst="rect">
            <a:avLst/>
          </a:prstGeom>
          <a:noFill/>
        </p:spPr>
        <p:txBody>
          <a:bodyPr wrap="square" lIns="0" rIns="0" tIns="0" bIns="0" anchor="t">
            <a:spAutoFit/>
          </a:bodyPr>
          <a:lstStyle/>
          <a:p>
            <a:pPr algn="l"/>
            <a:r>
              <a:rPr sz="1000" b="0" i="0">
                <a:solidFill>
                  <a:srgbClr val="5B6B78"/>
                </a:solidFill>
                <a:latin typeface="Arial"/>
              </a:rPr>
              <a:t>/object/position</a:t>
            </a:r>
          </a:p>
        </p:txBody>
      </p:sp>
      <p:sp>
        <p:nvSpPr>
          <p:cNvPr id="17" name="Right Arrow 16"/>
          <p:cNvSpPr/>
          <p:nvPr/>
        </p:nvSpPr>
        <p:spPr>
          <a:xfrm>
            <a:off x="4892040" y="2729484"/>
            <a:ext cx="146304" cy="164592"/>
          </a:xfrm>
          <a:prstGeom prst="rightArrow">
            <a:avLst/>
          </a:prstGeom>
          <a:solidFill>
            <a:srgbClr val="0E7C86"/>
          </a:solidFill>
          <a:ln>
            <a:noFill/>
          </a:ln>
        </p:spPr>
        <p:txBody>
          <a:bodyPr rtlCol="0" anchor="ctr"/>
          <a:lstStyle/>
          <a:p>
            <a:pPr algn="ctr"/>
          </a:p>
        </p:txBody>
      </p:sp>
      <p:sp>
        <p:nvSpPr>
          <p:cNvPr id="18" name="Stage 3"/>
          <p:cNvSpPr/>
          <p:nvPr/>
        </p:nvSpPr>
        <p:spPr>
          <a:xfrm>
            <a:off x="5047488" y="1691640"/>
            <a:ext cx="2084831" cy="2240280"/>
          </a:xfrm>
          <a:prstGeom prst="roundRect">
            <a:avLst>
              <a:gd name="adj" fmla="val 6000"/>
            </a:avLst>
          </a:prstGeom>
          <a:solidFill>
            <a:srgbClr val="E8F2F4"/>
          </a:solidFill>
          <a:ln>
            <a:noFill/>
          </a:ln>
        </p:spPr>
        <p:txBody>
          <a:bodyPr rtlCol="0" anchor="ctr"/>
          <a:lstStyle/>
          <a:p/>
        </p:txBody>
      </p:sp>
      <p:sp>
        <p:nvSpPr>
          <p:cNvPr id="19" name="Oval 18"/>
          <p:cNvSpPr/>
          <p:nvPr/>
        </p:nvSpPr>
        <p:spPr>
          <a:xfrm>
            <a:off x="5230368" y="1874520"/>
            <a:ext cx="438912" cy="438912"/>
          </a:xfrm>
          <a:prstGeom prst="ellipse">
            <a:avLst/>
          </a:prstGeom>
          <a:solidFill>
            <a:srgbClr val="0E7C86"/>
          </a:solidFill>
          <a:ln>
            <a:noFill/>
          </a:ln>
        </p:spPr>
        <p:txBody>
          <a:bodyPr rtlCol="0" anchor="ctr" lIns="0" rIns="0" tIns="0" bIns="0"/>
          <a:lstStyle/>
          <a:p>
            <a:pPr algn="ctr"/>
            <a:r>
              <a:rPr sz="1400" b="1">
                <a:solidFill>
                  <a:srgbClr val="FFFFFF"/>
                </a:solidFill>
                <a:latin typeface="Arial"/>
              </a:rPr>
              <a:t>3</a:t>
            </a:r>
          </a:p>
        </p:txBody>
      </p:sp>
      <p:sp>
        <p:nvSpPr>
          <p:cNvPr id="20" name="TextBox 19"/>
          <p:cNvSpPr txBox="1"/>
          <p:nvPr/>
        </p:nvSpPr>
        <p:spPr>
          <a:xfrm>
            <a:off x="5230368" y="2423160"/>
            <a:ext cx="1764791" cy="320040"/>
          </a:xfrm>
          <a:prstGeom prst="rect">
            <a:avLst/>
          </a:prstGeom>
          <a:noFill/>
        </p:spPr>
        <p:txBody>
          <a:bodyPr wrap="square" lIns="0" rIns="0" tIns="0" bIns="0" anchor="t">
            <a:spAutoFit/>
          </a:bodyPr>
          <a:lstStyle/>
          <a:p>
            <a:pPr algn="l"/>
            <a:r>
              <a:rPr sz="1500" b="1" i="0">
                <a:solidFill>
                  <a:srgbClr val="13293D"/>
                </a:solidFill>
                <a:latin typeface="Arial"/>
              </a:rPr>
              <a:t>rqt_image_view</a:t>
            </a:r>
          </a:p>
        </p:txBody>
      </p:sp>
      <p:sp>
        <p:nvSpPr>
          <p:cNvPr id="21" name="TextBox 20"/>
          <p:cNvSpPr txBox="1"/>
          <p:nvPr/>
        </p:nvSpPr>
        <p:spPr>
          <a:xfrm>
            <a:off x="5230368" y="2761488"/>
            <a:ext cx="1764791" cy="548640"/>
          </a:xfrm>
          <a:prstGeom prst="rect">
            <a:avLst/>
          </a:prstGeom>
          <a:noFill/>
        </p:spPr>
        <p:txBody>
          <a:bodyPr wrap="square" lIns="0" rIns="0" tIns="0" bIns="0" anchor="t">
            <a:spAutoFit/>
          </a:bodyPr>
          <a:lstStyle/>
          <a:p>
            <a:pPr algn="l"/>
            <a:r>
              <a:rPr sz="1200" b="0" i="0">
                <a:solidFill>
                  <a:srgbClr val="13293D"/>
                </a:solidFill>
                <a:latin typeface="Arial"/>
              </a:rPr>
              <a:t>Live view of both detection streams</a:t>
            </a:r>
          </a:p>
        </p:txBody>
      </p:sp>
      <p:sp>
        <p:nvSpPr>
          <p:cNvPr id="22" name="TextBox 21"/>
          <p:cNvSpPr txBox="1"/>
          <p:nvPr/>
        </p:nvSpPr>
        <p:spPr>
          <a:xfrm>
            <a:off x="5230368" y="3264408"/>
            <a:ext cx="1764791" cy="228600"/>
          </a:xfrm>
          <a:prstGeom prst="rect">
            <a:avLst/>
          </a:prstGeom>
          <a:noFill/>
        </p:spPr>
        <p:txBody>
          <a:bodyPr wrap="square" lIns="0" rIns="0" tIns="0" bIns="0" anchor="t">
            <a:spAutoFit/>
          </a:bodyPr>
          <a:lstStyle/>
          <a:p>
            <a:pPr algn="l"/>
            <a:r>
              <a:rPr sz="1100" b="1" i="0">
                <a:solidFill>
                  <a:srgbClr val="0E7C86"/>
                </a:solidFill>
                <a:latin typeface="Arial"/>
              </a:rPr>
              <a:t>operator monitoring</a:t>
            </a:r>
          </a:p>
        </p:txBody>
      </p:sp>
      <p:sp>
        <p:nvSpPr>
          <p:cNvPr id="23" name="Topic 3"/>
          <p:cNvSpPr txBox="1"/>
          <p:nvPr/>
        </p:nvSpPr>
        <p:spPr>
          <a:xfrm>
            <a:off x="5230368" y="3502152"/>
            <a:ext cx="1764791" cy="365760"/>
          </a:xfrm>
          <a:prstGeom prst="rect">
            <a:avLst/>
          </a:prstGeom>
          <a:noFill/>
        </p:spPr>
        <p:txBody>
          <a:bodyPr wrap="square" lIns="0" rIns="0" tIns="0" bIns="0" anchor="t">
            <a:spAutoFit/>
          </a:bodyPr>
          <a:lstStyle/>
          <a:p>
            <a:pPr algn="l"/>
            <a:r>
              <a:rPr sz="1000" b="0" i="0">
                <a:solidFill>
                  <a:srgbClr val="5B6B78"/>
                </a:solidFill>
                <a:latin typeface="Arial"/>
              </a:rPr>
              <a:t>…/detection_image</a:t>
            </a:r>
          </a:p>
        </p:txBody>
      </p:sp>
      <p:sp>
        <p:nvSpPr>
          <p:cNvPr id="24" name="Right Arrow 23"/>
          <p:cNvSpPr/>
          <p:nvPr/>
        </p:nvSpPr>
        <p:spPr>
          <a:xfrm>
            <a:off x="7141463" y="2729484"/>
            <a:ext cx="146304" cy="164592"/>
          </a:xfrm>
          <a:prstGeom prst="rightArrow">
            <a:avLst/>
          </a:prstGeom>
          <a:solidFill>
            <a:srgbClr val="0E7C86"/>
          </a:solidFill>
          <a:ln>
            <a:noFill/>
          </a:ln>
        </p:spPr>
        <p:txBody>
          <a:bodyPr rtlCol="0" anchor="ctr"/>
          <a:lstStyle/>
          <a:p>
            <a:pPr algn="ctr"/>
          </a:p>
        </p:txBody>
      </p:sp>
      <p:sp>
        <p:nvSpPr>
          <p:cNvPr id="25" name="Stage 4"/>
          <p:cNvSpPr/>
          <p:nvPr/>
        </p:nvSpPr>
        <p:spPr>
          <a:xfrm>
            <a:off x="7296912" y="1691640"/>
            <a:ext cx="2084831" cy="2240280"/>
          </a:xfrm>
          <a:prstGeom prst="roundRect">
            <a:avLst>
              <a:gd name="adj" fmla="val 6000"/>
            </a:avLst>
          </a:prstGeom>
          <a:solidFill>
            <a:srgbClr val="E8F2F4"/>
          </a:solidFill>
          <a:ln>
            <a:noFill/>
          </a:ln>
        </p:spPr>
        <p:txBody>
          <a:bodyPr rtlCol="0" anchor="ctr"/>
          <a:lstStyle/>
          <a:p/>
        </p:txBody>
      </p:sp>
      <p:sp>
        <p:nvSpPr>
          <p:cNvPr id="26" name="Oval 25"/>
          <p:cNvSpPr/>
          <p:nvPr/>
        </p:nvSpPr>
        <p:spPr>
          <a:xfrm>
            <a:off x="7479792" y="1874520"/>
            <a:ext cx="438912" cy="438912"/>
          </a:xfrm>
          <a:prstGeom prst="ellipse">
            <a:avLst/>
          </a:prstGeom>
          <a:solidFill>
            <a:srgbClr val="0E7C86"/>
          </a:solidFill>
          <a:ln>
            <a:noFill/>
          </a:ln>
        </p:spPr>
        <p:txBody>
          <a:bodyPr rtlCol="0" anchor="ctr" lIns="0" rIns="0" tIns="0" bIns="0"/>
          <a:lstStyle/>
          <a:p>
            <a:pPr algn="ctr"/>
            <a:r>
              <a:rPr sz="1400" b="1">
                <a:solidFill>
                  <a:srgbClr val="FFFFFF"/>
                </a:solidFill>
                <a:latin typeface="Arial"/>
              </a:rPr>
              <a:t>4</a:t>
            </a:r>
          </a:p>
        </p:txBody>
      </p:sp>
      <p:sp>
        <p:nvSpPr>
          <p:cNvPr id="27" name="TextBox 26"/>
          <p:cNvSpPr txBox="1"/>
          <p:nvPr/>
        </p:nvSpPr>
        <p:spPr>
          <a:xfrm>
            <a:off x="7479792" y="2423160"/>
            <a:ext cx="1764791" cy="320040"/>
          </a:xfrm>
          <a:prstGeom prst="rect">
            <a:avLst/>
          </a:prstGeom>
          <a:noFill/>
        </p:spPr>
        <p:txBody>
          <a:bodyPr wrap="square" lIns="0" rIns="0" tIns="0" bIns="0" anchor="t">
            <a:spAutoFit/>
          </a:bodyPr>
          <a:lstStyle/>
          <a:p>
            <a:pPr algn="l"/>
            <a:r>
              <a:rPr sz="1500" b="1" i="0">
                <a:solidFill>
                  <a:srgbClr val="13293D"/>
                </a:solidFill>
                <a:latin typeface="Arial"/>
              </a:rPr>
              <a:t>Stonefish YOLO</a:t>
            </a:r>
          </a:p>
        </p:txBody>
      </p:sp>
      <p:sp>
        <p:nvSpPr>
          <p:cNvPr id="28" name="TextBox 27"/>
          <p:cNvSpPr txBox="1"/>
          <p:nvPr/>
        </p:nvSpPr>
        <p:spPr>
          <a:xfrm>
            <a:off x="7479792" y="2761488"/>
            <a:ext cx="1764791" cy="548640"/>
          </a:xfrm>
          <a:prstGeom prst="rect">
            <a:avLst/>
          </a:prstGeom>
          <a:noFill/>
        </p:spPr>
        <p:txBody>
          <a:bodyPr wrap="square" lIns="0" rIns="0" tIns="0" bIns="0" anchor="t">
            <a:spAutoFit/>
          </a:bodyPr>
          <a:lstStyle/>
          <a:p>
            <a:pPr algn="l"/>
            <a:r>
              <a:rPr sz="1200" b="0" i="0">
                <a:solidFill>
                  <a:srgbClr val="13293D"/>
                </a:solidFill>
                <a:latin typeface="Arial"/>
              </a:rPr>
              <a:t>stonefish_v1 model on the simulated camera</a:t>
            </a:r>
          </a:p>
        </p:txBody>
      </p:sp>
      <p:sp>
        <p:nvSpPr>
          <p:cNvPr id="29" name="TextBox 28"/>
          <p:cNvSpPr txBox="1"/>
          <p:nvPr/>
        </p:nvSpPr>
        <p:spPr>
          <a:xfrm>
            <a:off x="7479792" y="3264408"/>
            <a:ext cx="1764791" cy="228600"/>
          </a:xfrm>
          <a:prstGeom prst="rect">
            <a:avLst/>
          </a:prstGeom>
          <a:noFill/>
        </p:spPr>
        <p:txBody>
          <a:bodyPr wrap="square" lIns="0" rIns="0" tIns="0" bIns="0" anchor="t">
            <a:spAutoFit/>
          </a:bodyPr>
          <a:lstStyle/>
          <a:p>
            <a:pPr algn="l"/>
            <a:r>
              <a:rPr sz="1100" b="1" i="0">
                <a:solidFill>
                  <a:srgbClr val="0E7C86"/>
                </a:solidFill>
                <a:latin typeface="Arial"/>
              </a:rPr>
              <a:t>10 Hz, centre + box</a:t>
            </a:r>
          </a:p>
        </p:txBody>
      </p:sp>
      <p:sp>
        <p:nvSpPr>
          <p:cNvPr id="30" name="Topic 4"/>
          <p:cNvSpPr txBox="1"/>
          <p:nvPr/>
        </p:nvSpPr>
        <p:spPr>
          <a:xfrm>
            <a:off x="7479792" y="3502152"/>
            <a:ext cx="1764791" cy="365760"/>
          </a:xfrm>
          <a:prstGeom prst="rect">
            <a:avLst/>
          </a:prstGeom>
          <a:noFill/>
        </p:spPr>
        <p:txBody>
          <a:bodyPr wrap="square" lIns="0" rIns="0" tIns="0" bIns="0" anchor="t">
            <a:spAutoFit/>
          </a:bodyPr>
          <a:lstStyle/>
          <a:p>
            <a:pPr algn="l"/>
            <a:r>
              <a:rPr sz="1000" b="0" i="0">
                <a:solidFill>
                  <a:srgbClr val="5B6B78"/>
                </a:solidFill>
                <a:latin typeface="Arial"/>
              </a:rPr>
              <a:t>/stonefish/target/detection, /bbox</a:t>
            </a:r>
          </a:p>
        </p:txBody>
      </p:sp>
      <p:sp>
        <p:nvSpPr>
          <p:cNvPr id="31" name="Right Arrow 30"/>
          <p:cNvSpPr/>
          <p:nvPr/>
        </p:nvSpPr>
        <p:spPr>
          <a:xfrm>
            <a:off x="9390888" y="2729484"/>
            <a:ext cx="146304" cy="164592"/>
          </a:xfrm>
          <a:prstGeom prst="rightArrow">
            <a:avLst/>
          </a:prstGeom>
          <a:solidFill>
            <a:srgbClr val="0E7C86"/>
          </a:solidFill>
          <a:ln>
            <a:noFill/>
          </a:ln>
        </p:spPr>
        <p:txBody>
          <a:bodyPr rtlCol="0" anchor="ctr"/>
          <a:lstStyle/>
          <a:p>
            <a:pPr algn="ctr"/>
          </a:p>
        </p:txBody>
      </p:sp>
      <p:sp>
        <p:nvSpPr>
          <p:cNvPr id="32" name="Stage 5"/>
          <p:cNvSpPr/>
          <p:nvPr/>
        </p:nvSpPr>
        <p:spPr>
          <a:xfrm>
            <a:off x="9546336" y="1691640"/>
            <a:ext cx="2084831" cy="2240280"/>
          </a:xfrm>
          <a:prstGeom prst="roundRect">
            <a:avLst>
              <a:gd name="adj" fmla="val 6000"/>
            </a:avLst>
          </a:prstGeom>
          <a:solidFill>
            <a:srgbClr val="E8F2F4"/>
          </a:solidFill>
          <a:ln>
            <a:noFill/>
          </a:ln>
        </p:spPr>
        <p:txBody>
          <a:bodyPr rtlCol="0" anchor="ctr"/>
          <a:lstStyle/>
          <a:p/>
        </p:txBody>
      </p:sp>
      <p:sp>
        <p:nvSpPr>
          <p:cNvPr id="33" name="Oval 32"/>
          <p:cNvSpPr/>
          <p:nvPr/>
        </p:nvSpPr>
        <p:spPr>
          <a:xfrm>
            <a:off x="9729215" y="1874520"/>
            <a:ext cx="438912" cy="438912"/>
          </a:xfrm>
          <a:prstGeom prst="ellipse">
            <a:avLst/>
          </a:prstGeom>
          <a:solidFill>
            <a:srgbClr val="0E7C86"/>
          </a:solidFill>
          <a:ln>
            <a:noFill/>
          </a:ln>
        </p:spPr>
        <p:txBody>
          <a:bodyPr rtlCol="0" anchor="ctr" lIns="0" rIns="0" tIns="0" bIns="0"/>
          <a:lstStyle/>
          <a:p>
            <a:pPr algn="ctr"/>
            <a:r>
              <a:rPr sz="1400" b="1">
                <a:solidFill>
                  <a:srgbClr val="FFFFFF"/>
                </a:solidFill>
                <a:latin typeface="Arial"/>
              </a:rPr>
              <a:t>5</a:t>
            </a:r>
          </a:p>
        </p:txBody>
      </p:sp>
      <p:sp>
        <p:nvSpPr>
          <p:cNvPr id="34" name="TextBox 33"/>
          <p:cNvSpPr txBox="1"/>
          <p:nvPr/>
        </p:nvSpPr>
        <p:spPr>
          <a:xfrm>
            <a:off x="9729215" y="2423160"/>
            <a:ext cx="1764791" cy="320040"/>
          </a:xfrm>
          <a:prstGeom prst="rect">
            <a:avLst/>
          </a:prstGeom>
          <a:noFill/>
        </p:spPr>
        <p:txBody>
          <a:bodyPr wrap="square" lIns="0" rIns="0" tIns="0" bIns="0" anchor="t">
            <a:spAutoFit/>
          </a:bodyPr>
          <a:lstStyle/>
          <a:p>
            <a:pPr algn="l"/>
            <a:r>
              <a:rPr sz="1500" b="1" i="0">
                <a:solidFill>
                  <a:srgbClr val="13293D"/>
                </a:solidFill>
                <a:latin typeface="Arial"/>
              </a:rPr>
              <a:t>Stonefish sim</a:t>
            </a:r>
          </a:p>
        </p:txBody>
      </p:sp>
      <p:sp>
        <p:nvSpPr>
          <p:cNvPr id="35" name="TextBox 34"/>
          <p:cNvSpPr txBox="1"/>
          <p:nvPr/>
        </p:nvSpPr>
        <p:spPr>
          <a:xfrm>
            <a:off x="9729215" y="2761488"/>
            <a:ext cx="1764791" cy="548640"/>
          </a:xfrm>
          <a:prstGeom prst="rect">
            <a:avLst/>
          </a:prstGeom>
          <a:noFill/>
        </p:spPr>
        <p:txBody>
          <a:bodyPr wrap="square" lIns="0" rIns="0" tIns="0" bIns="0" anchor="t">
            <a:spAutoFit/>
          </a:bodyPr>
          <a:lstStyle/>
          <a:p>
            <a:pPr algn="l"/>
            <a:r>
              <a:rPr sz="1200" b="0" i="0">
                <a:solidFill>
                  <a:srgbClr val="13293D"/>
                </a:solidFill>
                <a:latin typeface="Arial"/>
              </a:rPr>
              <a:t>Task2Manager state machine drives 6 thrusters</a:t>
            </a:r>
          </a:p>
        </p:txBody>
      </p:sp>
      <p:sp>
        <p:nvSpPr>
          <p:cNvPr id="36" name="TextBox 35"/>
          <p:cNvSpPr txBox="1"/>
          <p:nvPr/>
        </p:nvSpPr>
        <p:spPr>
          <a:xfrm>
            <a:off x="9729215" y="3264408"/>
            <a:ext cx="1764791" cy="228600"/>
          </a:xfrm>
          <a:prstGeom prst="rect">
            <a:avLst/>
          </a:prstGeom>
          <a:noFill/>
        </p:spPr>
        <p:txBody>
          <a:bodyPr wrap="square" lIns="0" rIns="0" tIns="0" bIns="0" anchor="t">
            <a:spAutoFit/>
          </a:bodyPr>
          <a:lstStyle/>
          <a:p>
            <a:pPr algn="l"/>
            <a:r>
              <a:rPr sz="1100" b="1" i="0">
                <a:solidFill>
                  <a:srgbClr val="0E7C86"/>
                </a:solidFill>
                <a:latin typeface="Arial"/>
              </a:rPr>
              <a:t>100 Hz control loop</a:t>
            </a:r>
          </a:p>
        </p:txBody>
      </p:sp>
      <p:sp>
        <p:nvSpPr>
          <p:cNvPr id="37" name="Topic 5"/>
          <p:cNvSpPr txBox="1"/>
          <p:nvPr/>
        </p:nvSpPr>
        <p:spPr>
          <a:xfrm>
            <a:off x="9729215" y="3502152"/>
            <a:ext cx="1764791" cy="365760"/>
          </a:xfrm>
          <a:prstGeom prst="rect">
            <a:avLst/>
          </a:prstGeom>
          <a:noFill/>
        </p:spPr>
        <p:txBody>
          <a:bodyPr wrap="square" lIns="0" rIns="0" tIns="0" bIns="0" anchor="t">
            <a:spAutoFit/>
          </a:bodyPr>
          <a:lstStyle/>
          <a:p>
            <a:pPr algn="l"/>
            <a:r>
              <a:rPr sz="1000" b="0" i="0">
                <a:solidFill>
                  <a:srgbClr val="5B6B78"/>
                </a:solidFill>
                <a:latin typeface="Arial"/>
              </a:rPr>
              <a:t>/usv/control_debug</a:t>
            </a:r>
          </a:p>
        </p:txBody>
      </p:sp>
      <p:pic>
        <p:nvPicPr>
          <p:cNvPr id="38" name="Real detection" descr="real_det.png"/>
          <p:cNvPicPr>
            <a:picLocks noChangeAspect="1"/>
          </p:cNvPicPr>
          <p:nvPr/>
        </p:nvPicPr>
        <p:blipFill>
          <a:blip r:embed="rId2"/>
          <a:stretch>
            <a:fillRect/>
          </a:stretch>
        </p:blipFill>
        <p:spPr>
          <a:xfrm>
            <a:off x="548640" y="4224528"/>
            <a:ext cx="2377440" cy="1783080"/>
          </a:xfrm>
          <a:prstGeom prst="rect">
            <a:avLst/>
          </a:prstGeom>
        </p:spPr>
      </p:pic>
      <p:sp>
        <p:nvSpPr>
          <p:cNvPr id="39" name="TextBox 38"/>
          <p:cNvSpPr txBox="1"/>
          <p:nvPr/>
        </p:nvSpPr>
        <p:spPr>
          <a:xfrm>
            <a:off x="548640" y="6035040"/>
            <a:ext cx="2377440" cy="274320"/>
          </a:xfrm>
          <a:prstGeom prst="rect">
            <a:avLst/>
          </a:prstGeom>
          <a:noFill/>
        </p:spPr>
        <p:txBody>
          <a:bodyPr wrap="square" lIns="0" rIns="0" tIns="0" bIns="0" anchor="t">
            <a:spAutoFit/>
          </a:bodyPr>
          <a:lstStyle/>
          <a:p>
            <a:pPr algn="l"/>
            <a:r>
              <a:rPr sz="1000" b="0" i="0">
                <a:solidFill>
                  <a:srgbClr val="5B6B78"/>
                </a:solidFill>
                <a:latin typeface="Arial"/>
              </a:rPr>
              <a:t>Real camera · YOLO 0.90</a:t>
            </a:r>
          </a:p>
        </p:txBody>
      </p:sp>
      <p:pic>
        <p:nvPicPr>
          <p:cNvPr id="40" name="Sim detection" descr="sim_approach.png"/>
          <p:cNvPicPr>
            <a:picLocks noChangeAspect="1"/>
          </p:cNvPicPr>
          <p:nvPr/>
        </p:nvPicPr>
        <p:blipFill>
          <a:blip r:embed="rId3"/>
          <a:stretch>
            <a:fillRect/>
          </a:stretch>
        </p:blipFill>
        <p:spPr>
          <a:xfrm>
            <a:off x="3108960" y="4224528"/>
            <a:ext cx="2377440" cy="1783080"/>
          </a:xfrm>
          <a:prstGeom prst="rect">
            <a:avLst/>
          </a:prstGeom>
        </p:spPr>
      </p:pic>
      <p:sp>
        <p:nvSpPr>
          <p:cNvPr id="41" name="TextBox 40"/>
          <p:cNvSpPr txBox="1"/>
          <p:nvPr/>
        </p:nvSpPr>
        <p:spPr>
          <a:xfrm>
            <a:off x="3108960" y="6035040"/>
            <a:ext cx="2377440" cy="274320"/>
          </a:xfrm>
          <a:prstGeom prst="rect">
            <a:avLst/>
          </a:prstGeom>
          <a:noFill/>
        </p:spPr>
        <p:txBody>
          <a:bodyPr wrap="square" lIns="0" rIns="0" tIns="0" bIns="0" anchor="t">
            <a:spAutoFit/>
          </a:bodyPr>
          <a:lstStyle/>
          <a:p>
            <a:pPr algn="l"/>
            <a:r>
              <a:rPr sz="1000" b="0" i="0">
                <a:solidFill>
                  <a:srgbClr val="5B6B78"/>
                </a:solidFill>
                <a:latin typeface="Arial"/>
              </a:rPr>
              <a:t>Stonefish camera · YOLO 0.90</a:t>
            </a:r>
          </a:p>
        </p:txBody>
      </p:sp>
      <p:sp>
        <p:nvSpPr>
          <p:cNvPr id="42" name="Fixes card"/>
          <p:cNvSpPr/>
          <p:nvPr/>
        </p:nvSpPr>
        <p:spPr>
          <a:xfrm>
            <a:off x="5806440" y="4224528"/>
            <a:ext cx="5833872" cy="2057400"/>
          </a:xfrm>
          <a:prstGeom prst="roundRect">
            <a:avLst>
              <a:gd name="adj" fmla="val 5000"/>
            </a:avLst>
          </a:prstGeom>
          <a:solidFill>
            <a:srgbClr val="E8F2F4"/>
          </a:solidFill>
          <a:ln>
            <a:noFill/>
          </a:ln>
        </p:spPr>
        <p:txBody>
          <a:bodyPr rtlCol="0" anchor="ctr"/>
          <a:lstStyle/>
          <a:p/>
        </p:txBody>
      </p:sp>
      <p:sp>
        <p:nvSpPr>
          <p:cNvPr id="43" name="TextBox 42"/>
          <p:cNvSpPr txBox="1"/>
          <p:nvPr/>
        </p:nvSpPr>
        <p:spPr>
          <a:xfrm>
            <a:off x="6035040" y="4343400"/>
            <a:ext cx="5486400" cy="320040"/>
          </a:xfrm>
          <a:prstGeom prst="rect">
            <a:avLst/>
          </a:prstGeom>
          <a:noFill/>
        </p:spPr>
        <p:txBody>
          <a:bodyPr wrap="square" lIns="0" rIns="0" tIns="0" bIns="0" anchor="t">
            <a:spAutoFit/>
          </a:bodyPr>
          <a:lstStyle/>
          <a:p>
            <a:pPr algn="l"/>
            <a:r>
              <a:rPr sz="1500" b="1" i="0">
                <a:solidFill>
                  <a:srgbClr val="13293D"/>
                </a:solidFill>
                <a:latin typeface="Arial"/>
              </a:rPr>
              <a:t>Root causes found and fixed during integration</a:t>
            </a:r>
          </a:p>
        </p:txBody>
      </p:sp>
      <p:sp>
        <p:nvSpPr>
          <p:cNvPr id="44" name="TextBox 43"/>
          <p:cNvSpPr txBox="1"/>
          <p:nvPr/>
        </p:nvSpPr>
        <p:spPr>
          <a:xfrm>
            <a:off x="6035040" y="4709160"/>
            <a:ext cx="5440680" cy="1554480"/>
          </a:xfrm>
          <a:prstGeom prst="rect">
            <a:avLst/>
          </a:prstGeom>
          <a:noFill/>
        </p:spPr>
        <p:txBody>
          <a:bodyPr wrap="square" lIns="0" rIns="0" tIns="0" bIns="0" anchor="t">
            <a:spAutoFit/>
          </a:bodyPr>
          <a:lstStyle/>
          <a:p>
            <a:pPr algn="l" marL="201168" indent="-201168">
              <a:spcAft>
                <a:spcPts val="400"/>
              </a:spcAft>
              <a:buChar char="•"/>
            </a:pPr>
            <a:r>
              <a:rPr sz="1300" b="1" i="0">
                <a:solidFill>
                  <a:srgbClr val="13293D"/>
                </a:solidFill>
                <a:latin typeface="Arial"/>
              </a:rPr>
              <a:t>Topic mismatch: </a:t>
            </a:r>
            <a:r>
              <a:rPr sz="1300" b="0" i="0">
                <a:solidFill>
                  <a:srgbClr val="13293D"/>
                </a:solidFill>
                <a:latin typeface="Arial"/>
              </a:rPr>
              <a:t>detector and controller never connected</a:t>
            </a:r>
          </a:p>
          <a:p>
            <a:pPr algn="l" marL="201168" indent="-201168">
              <a:spcAft>
                <a:spcPts val="400"/>
              </a:spcAft>
              <a:buChar char="•"/>
            </a:pPr>
            <a:r>
              <a:rPr sz="1300" b="1" i="0">
                <a:solidFill>
                  <a:srgbClr val="13293D"/>
                </a:solidFill>
                <a:latin typeface="Arial"/>
              </a:rPr>
              <a:t>Vertical thrusters cancelled: </a:t>
            </a:r>
            <a:r>
              <a:rPr sz="1300" b="0" i="0">
                <a:solidFill>
                  <a:srgbClr val="13293D"/>
                </a:solidFill>
                <a:latin typeface="Arial"/>
              </a:rPr>
              <a:t>counter-rotating pair, same command</a:t>
            </a:r>
          </a:p>
          <a:p>
            <a:pPr algn="l" marL="201168" indent="-201168">
              <a:spcAft>
                <a:spcPts val="400"/>
              </a:spcAft>
              <a:buChar char="•"/>
            </a:pPr>
            <a:r>
              <a:rPr sz="1300" b="1" i="0">
                <a:solidFill>
                  <a:srgbClr val="13293D"/>
                </a:solidFill>
                <a:latin typeface="Arial"/>
              </a:rPr>
              <a:t>7.4° nose-up trim: </a:t>
            </a:r>
            <a:r>
              <a:rPr sz="1300" b="0" i="0">
                <a:solidFill>
                  <a:srgbClr val="13293D"/>
                </a:solidFill>
                <a:latin typeface="Arial"/>
              </a:rPr>
              <a:t>ballast moved forward + pitch compensation</a:t>
            </a:r>
          </a:p>
          <a:p>
            <a:pPr algn="l" marL="201168" indent="-201168">
              <a:spcAft>
                <a:spcPts val="400"/>
              </a:spcAft>
              <a:buChar char="•"/>
            </a:pPr>
            <a:r>
              <a:rPr sz="1300" b="1" i="0">
                <a:solidFill>
                  <a:srgbClr val="13293D"/>
                </a:solidFill>
                <a:latin typeface="Arial"/>
              </a:rPr>
              <a:t>Wrong camera: </a:t>
            </a:r>
            <a:r>
              <a:rPr sz="1300" b="0" i="0">
                <a:solidFill>
                  <a:srgbClr val="13293D"/>
                </a:solidFill>
                <a:latin typeface="Arial"/>
              </a:rPr>
              <a:t>/dev/video0 was the laptop webcam</a:t>
            </a:r>
          </a:p>
          <a:p>
            <a:pPr algn="l" marL="201168" indent="-201168">
              <a:spcAft>
                <a:spcPts val="400"/>
              </a:spcAft>
              <a:buChar char="•"/>
            </a:pPr>
            <a:r>
              <a:rPr sz="1300" b="1" i="0">
                <a:solidFill>
                  <a:srgbClr val="13293D"/>
                </a:solidFill>
                <a:latin typeface="Arial"/>
              </a:rPr>
              <a:t>No range input: </a:t>
            </a:r>
            <a:r>
              <a:rPr sz="1300" b="0" i="0">
                <a:solidFill>
                  <a:srgbClr val="13293D"/>
                </a:solidFill>
                <a:latin typeface="Arial"/>
              </a:rPr>
              <a:t>YOLO now publishes the box size</a:t>
            </a:r>
          </a:p>
        </p:txBody>
      </p:sp>
      <p:sp>
        <p:nvSpPr>
          <p:cNvPr id="45" name="TextBox 44"/>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5B6B78"/>
                </a:solidFill>
                <a:latin typeface="Arial"/>
              </a:rPr>
              <a:t>Kyushu Project  ·  Autonomous underwater ROV</a:t>
            </a:r>
          </a:p>
        </p:txBody>
      </p:sp>
      <p:sp>
        <p:nvSpPr>
          <p:cNvPr id="46" name="TextBox 45"/>
          <p:cNvSpPr txBox="1"/>
          <p:nvPr/>
        </p:nvSpPr>
        <p:spPr>
          <a:xfrm>
            <a:off x="10725912" y="6400800"/>
            <a:ext cx="914400" cy="274320"/>
          </a:xfrm>
          <a:prstGeom prst="rect">
            <a:avLst/>
          </a:prstGeom>
          <a:noFill/>
        </p:spPr>
        <p:txBody>
          <a:bodyPr wrap="square" lIns="0" rIns="0" tIns="0" bIns="0" anchor="t">
            <a:spAutoFit/>
          </a:bodyPr>
          <a:lstStyle/>
          <a:p>
            <a:pPr algn="r"/>
            <a:r>
              <a:rPr sz="1000" b="0" i="0">
                <a:solidFill>
                  <a:srgbClr val="5B6B78"/>
                </a:solidFill>
                <a:latin typeface="Arial"/>
              </a:rP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64240" cy="685800"/>
          </a:xfrm>
        </p:spPr>
        <p:txBody>
          <a:bodyPr lIns="0" rIns="0" tIns="0" bIns="0" anchor="t" wrap="square"/>
          <a:lstStyle/>
          <a:p>
            <a:pPr algn="l"/>
            <a:r>
              <a:rPr sz="3200" b="1">
                <a:solidFill>
                  <a:srgbClr val="13293D"/>
                </a:solidFill>
                <a:latin typeface="Arial"/>
              </a:rPr>
              <a:t>Mission logic with layered safety</a:t>
            </a:r>
          </a:p>
        </p:txBody>
      </p:sp>
      <p:sp>
        <p:nvSpPr>
          <p:cNvPr id="3" name="TextBox 2"/>
          <p:cNvSpPr txBox="1"/>
          <p:nvPr/>
        </p:nvSpPr>
        <p:spPr>
          <a:xfrm>
            <a:off x="548640" y="1078992"/>
            <a:ext cx="11064240" cy="365760"/>
          </a:xfrm>
          <a:prstGeom prst="rect">
            <a:avLst/>
          </a:prstGeom>
          <a:noFill/>
        </p:spPr>
        <p:txBody>
          <a:bodyPr wrap="square" lIns="0" rIns="0" tIns="0" bIns="0" anchor="t">
            <a:spAutoFit/>
          </a:bodyPr>
          <a:lstStyle/>
          <a:p>
            <a:pPr algn="l"/>
            <a:r>
              <a:rPr sz="1500" b="0" i="0">
                <a:solidFill>
                  <a:srgbClr val="5B6B78"/>
                </a:solidFill>
                <a:latin typeface="Arial"/>
              </a:rPr>
              <a:t>Built for an expensive robot: each layer works on its own, so no single sensor or estimate error can cause a collision</a:t>
            </a:r>
          </a:p>
        </p:txBody>
      </p:sp>
      <p:sp>
        <p:nvSpPr>
          <p:cNvPr id="4" name="Step 1"/>
          <p:cNvSpPr/>
          <p:nvPr/>
        </p:nvSpPr>
        <p:spPr>
          <a:xfrm>
            <a:off x="548640" y="1645920"/>
            <a:ext cx="1307592" cy="868680"/>
          </a:xfrm>
          <a:prstGeom prst="roundRect">
            <a:avLst>
              <a:gd name="adj" fmla="val 12000"/>
            </a:avLst>
          </a:prstGeom>
          <a:solidFill>
            <a:srgbClr val="0E7C86"/>
          </a:solidFill>
          <a:ln>
            <a:noFill/>
          </a:ln>
        </p:spPr>
        <p:txBody>
          <a:bodyPr rtlCol="0" anchor="ctr"/>
          <a:lstStyle/>
          <a:p/>
        </p:txBody>
      </p:sp>
      <p:sp>
        <p:nvSpPr>
          <p:cNvPr id="5" name="TextBox 4"/>
          <p:cNvSpPr txBox="1"/>
          <p:nvPr/>
        </p:nvSpPr>
        <p:spPr>
          <a:xfrm>
            <a:off x="548640" y="1773936"/>
            <a:ext cx="1307592" cy="320040"/>
          </a:xfrm>
          <a:prstGeom prst="rect">
            <a:avLst/>
          </a:prstGeom>
          <a:noFill/>
        </p:spPr>
        <p:txBody>
          <a:bodyPr wrap="square" lIns="0" rIns="0" tIns="0" bIns="0" anchor="t">
            <a:spAutoFit/>
          </a:bodyPr>
          <a:lstStyle/>
          <a:p>
            <a:pPr algn="ctr"/>
            <a:r>
              <a:rPr sz="1500" b="1" i="0">
                <a:solidFill>
                  <a:srgbClr val="FFFFFF"/>
                </a:solidFill>
                <a:latin typeface="Arial"/>
              </a:rPr>
              <a:t>Calibrate</a:t>
            </a:r>
          </a:p>
        </p:txBody>
      </p:sp>
      <p:sp>
        <p:nvSpPr>
          <p:cNvPr id="6" name="TextBox 5"/>
          <p:cNvSpPr txBox="1"/>
          <p:nvPr/>
        </p:nvSpPr>
        <p:spPr>
          <a:xfrm>
            <a:off x="548640" y="2121408"/>
            <a:ext cx="1307592" cy="274320"/>
          </a:xfrm>
          <a:prstGeom prst="rect">
            <a:avLst/>
          </a:prstGeom>
          <a:noFill/>
        </p:spPr>
        <p:txBody>
          <a:bodyPr wrap="square" lIns="0" rIns="0" tIns="0" bIns="0" anchor="t">
            <a:spAutoFit/>
          </a:bodyPr>
          <a:lstStyle/>
          <a:p>
            <a:pPr algn="ctr"/>
            <a:r>
              <a:rPr sz="1100" b="0" i="0">
                <a:solidFill>
                  <a:srgbClr val="FFFFFF"/>
                </a:solidFill>
                <a:latin typeface="Arial"/>
              </a:rPr>
              <a:t>thruster signs</a:t>
            </a:r>
          </a:p>
        </p:txBody>
      </p:sp>
      <p:sp>
        <p:nvSpPr>
          <p:cNvPr id="7" name="Step 2"/>
          <p:cNvSpPr/>
          <p:nvPr/>
        </p:nvSpPr>
        <p:spPr>
          <a:xfrm>
            <a:off x="1947672" y="1645920"/>
            <a:ext cx="1307592" cy="868680"/>
          </a:xfrm>
          <a:prstGeom prst="roundRect">
            <a:avLst>
              <a:gd name="adj" fmla="val 12000"/>
            </a:avLst>
          </a:prstGeom>
          <a:solidFill>
            <a:srgbClr val="0E7C86"/>
          </a:solidFill>
          <a:ln>
            <a:noFill/>
          </a:ln>
        </p:spPr>
        <p:txBody>
          <a:bodyPr rtlCol="0" anchor="ctr"/>
          <a:lstStyle/>
          <a:p/>
        </p:txBody>
      </p:sp>
      <p:sp>
        <p:nvSpPr>
          <p:cNvPr id="8" name="TextBox 7"/>
          <p:cNvSpPr txBox="1"/>
          <p:nvPr/>
        </p:nvSpPr>
        <p:spPr>
          <a:xfrm>
            <a:off x="1947672" y="1773936"/>
            <a:ext cx="1307592" cy="320040"/>
          </a:xfrm>
          <a:prstGeom prst="rect">
            <a:avLst/>
          </a:prstGeom>
          <a:noFill/>
        </p:spPr>
        <p:txBody>
          <a:bodyPr wrap="square" lIns="0" rIns="0" tIns="0" bIns="0" anchor="t">
            <a:spAutoFit/>
          </a:bodyPr>
          <a:lstStyle/>
          <a:p>
            <a:pPr algn="ctr"/>
            <a:r>
              <a:rPr sz="1500" b="1" i="0">
                <a:solidFill>
                  <a:srgbClr val="FFFFFF"/>
                </a:solidFill>
                <a:latin typeface="Arial"/>
              </a:rPr>
              <a:t>Search</a:t>
            </a:r>
          </a:p>
        </p:txBody>
      </p:sp>
      <p:sp>
        <p:nvSpPr>
          <p:cNvPr id="9" name="TextBox 8"/>
          <p:cNvSpPr txBox="1"/>
          <p:nvPr/>
        </p:nvSpPr>
        <p:spPr>
          <a:xfrm>
            <a:off x="1947672" y="2121408"/>
            <a:ext cx="1307592" cy="274320"/>
          </a:xfrm>
          <a:prstGeom prst="rect">
            <a:avLst/>
          </a:prstGeom>
          <a:noFill/>
        </p:spPr>
        <p:txBody>
          <a:bodyPr wrap="square" lIns="0" rIns="0" tIns="0" bIns="0" anchor="t">
            <a:spAutoFit/>
          </a:bodyPr>
          <a:lstStyle/>
          <a:p>
            <a:pPr algn="ctr"/>
            <a:r>
              <a:rPr sz="1100" b="0" i="0">
                <a:solidFill>
                  <a:srgbClr val="FFFFFF"/>
                </a:solidFill>
                <a:latin typeface="Arial"/>
              </a:rPr>
              <a:t>≤ 1 full turn</a:t>
            </a:r>
          </a:p>
        </p:txBody>
      </p:sp>
      <p:sp>
        <p:nvSpPr>
          <p:cNvPr id="10" name="Step 3"/>
          <p:cNvSpPr/>
          <p:nvPr/>
        </p:nvSpPr>
        <p:spPr>
          <a:xfrm>
            <a:off x="3346704" y="1645920"/>
            <a:ext cx="1307592" cy="868680"/>
          </a:xfrm>
          <a:prstGeom prst="roundRect">
            <a:avLst>
              <a:gd name="adj" fmla="val 12000"/>
            </a:avLst>
          </a:prstGeom>
          <a:solidFill>
            <a:srgbClr val="0E7C86"/>
          </a:solidFill>
          <a:ln>
            <a:noFill/>
          </a:ln>
        </p:spPr>
        <p:txBody>
          <a:bodyPr rtlCol="0" anchor="ctr"/>
          <a:lstStyle/>
          <a:p/>
        </p:txBody>
      </p:sp>
      <p:sp>
        <p:nvSpPr>
          <p:cNvPr id="11" name="TextBox 10"/>
          <p:cNvSpPr txBox="1"/>
          <p:nvPr/>
        </p:nvSpPr>
        <p:spPr>
          <a:xfrm>
            <a:off x="3346704" y="1773936"/>
            <a:ext cx="1307592" cy="320040"/>
          </a:xfrm>
          <a:prstGeom prst="rect">
            <a:avLst/>
          </a:prstGeom>
          <a:noFill/>
        </p:spPr>
        <p:txBody>
          <a:bodyPr wrap="square" lIns="0" rIns="0" tIns="0" bIns="0" anchor="t">
            <a:spAutoFit/>
          </a:bodyPr>
          <a:lstStyle/>
          <a:p>
            <a:pPr algn="ctr"/>
            <a:r>
              <a:rPr sz="1500" b="1" i="0">
                <a:solidFill>
                  <a:srgbClr val="FFFFFF"/>
                </a:solidFill>
                <a:latin typeface="Arial"/>
              </a:rPr>
              <a:t>Align</a:t>
            </a:r>
          </a:p>
        </p:txBody>
      </p:sp>
      <p:sp>
        <p:nvSpPr>
          <p:cNvPr id="12" name="TextBox 11"/>
          <p:cNvSpPr txBox="1"/>
          <p:nvPr/>
        </p:nvSpPr>
        <p:spPr>
          <a:xfrm>
            <a:off x="3346704" y="2121408"/>
            <a:ext cx="1307592" cy="274320"/>
          </a:xfrm>
          <a:prstGeom prst="rect">
            <a:avLst/>
          </a:prstGeom>
          <a:noFill/>
        </p:spPr>
        <p:txBody>
          <a:bodyPr wrap="square" lIns="0" rIns="0" tIns="0" bIns="0" anchor="t">
            <a:spAutoFit/>
          </a:bodyPr>
          <a:lstStyle/>
          <a:p>
            <a:pPr algn="ctr"/>
            <a:r>
              <a:rPr sz="1100" b="0" i="0">
                <a:solidFill>
                  <a:srgbClr val="FFFFFF"/>
                </a:solidFill>
                <a:latin typeface="Arial"/>
              </a:rPr>
              <a:t>yaw, then depth</a:t>
            </a:r>
          </a:p>
        </p:txBody>
      </p:sp>
      <p:sp>
        <p:nvSpPr>
          <p:cNvPr id="13" name="Step 4"/>
          <p:cNvSpPr/>
          <p:nvPr/>
        </p:nvSpPr>
        <p:spPr>
          <a:xfrm>
            <a:off x="4745736" y="1645920"/>
            <a:ext cx="1307592" cy="868680"/>
          </a:xfrm>
          <a:prstGeom prst="roundRect">
            <a:avLst>
              <a:gd name="adj" fmla="val 12000"/>
            </a:avLst>
          </a:prstGeom>
          <a:solidFill>
            <a:srgbClr val="0E7C86"/>
          </a:solidFill>
          <a:ln>
            <a:noFill/>
          </a:ln>
        </p:spPr>
        <p:txBody>
          <a:bodyPr rtlCol="0" anchor="ctr"/>
          <a:lstStyle/>
          <a:p/>
        </p:txBody>
      </p:sp>
      <p:sp>
        <p:nvSpPr>
          <p:cNvPr id="14" name="TextBox 13"/>
          <p:cNvSpPr txBox="1"/>
          <p:nvPr/>
        </p:nvSpPr>
        <p:spPr>
          <a:xfrm>
            <a:off x="4745736" y="1773936"/>
            <a:ext cx="1307592" cy="320040"/>
          </a:xfrm>
          <a:prstGeom prst="rect">
            <a:avLst/>
          </a:prstGeom>
          <a:noFill/>
        </p:spPr>
        <p:txBody>
          <a:bodyPr wrap="square" lIns="0" rIns="0" tIns="0" bIns="0" anchor="t">
            <a:spAutoFit/>
          </a:bodyPr>
          <a:lstStyle/>
          <a:p>
            <a:pPr algn="ctr"/>
            <a:r>
              <a:rPr sz="1500" b="1" i="0">
                <a:solidFill>
                  <a:srgbClr val="FFFFFF"/>
                </a:solidFill>
                <a:latin typeface="Arial"/>
              </a:rPr>
              <a:t>Approach</a:t>
            </a:r>
          </a:p>
        </p:txBody>
      </p:sp>
      <p:sp>
        <p:nvSpPr>
          <p:cNvPr id="15" name="TextBox 14"/>
          <p:cNvSpPr txBox="1"/>
          <p:nvPr/>
        </p:nvSpPr>
        <p:spPr>
          <a:xfrm>
            <a:off x="4745736" y="2121408"/>
            <a:ext cx="1307592" cy="274320"/>
          </a:xfrm>
          <a:prstGeom prst="rect">
            <a:avLst/>
          </a:prstGeom>
          <a:noFill/>
        </p:spPr>
        <p:txBody>
          <a:bodyPr wrap="square" lIns="0" rIns="0" tIns="0" bIns="0" anchor="t">
            <a:spAutoFit/>
          </a:bodyPr>
          <a:lstStyle/>
          <a:p>
            <a:pPr algn="ctr"/>
            <a:r>
              <a:rPr sz="1100" b="0" i="0">
                <a:solidFill>
                  <a:srgbClr val="FFFFFF"/>
                </a:solidFill>
                <a:latin typeface="Arial"/>
              </a:rPr>
              <a:t>≤ 0.22 m/s</a:t>
            </a:r>
          </a:p>
        </p:txBody>
      </p:sp>
      <p:sp>
        <p:nvSpPr>
          <p:cNvPr id="16" name="Step 5"/>
          <p:cNvSpPr/>
          <p:nvPr/>
        </p:nvSpPr>
        <p:spPr>
          <a:xfrm>
            <a:off x="6144768" y="1645920"/>
            <a:ext cx="1307592" cy="868680"/>
          </a:xfrm>
          <a:prstGeom prst="roundRect">
            <a:avLst>
              <a:gd name="adj" fmla="val 12000"/>
            </a:avLst>
          </a:prstGeom>
          <a:solidFill>
            <a:srgbClr val="F2C230"/>
          </a:solidFill>
          <a:ln>
            <a:noFill/>
          </a:ln>
        </p:spPr>
        <p:txBody>
          <a:bodyPr rtlCol="0" anchor="ctr"/>
          <a:lstStyle/>
          <a:p/>
        </p:txBody>
      </p:sp>
      <p:sp>
        <p:nvSpPr>
          <p:cNvPr id="17" name="TextBox 16"/>
          <p:cNvSpPr txBox="1"/>
          <p:nvPr/>
        </p:nvSpPr>
        <p:spPr>
          <a:xfrm>
            <a:off x="6144768" y="1773936"/>
            <a:ext cx="1307592" cy="320040"/>
          </a:xfrm>
          <a:prstGeom prst="rect">
            <a:avLst/>
          </a:prstGeom>
          <a:noFill/>
        </p:spPr>
        <p:txBody>
          <a:bodyPr wrap="square" lIns="0" rIns="0" tIns="0" bIns="0" anchor="t">
            <a:spAutoFit/>
          </a:bodyPr>
          <a:lstStyle/>
          <a:p>
            <a:pPr algn="ctr"/>
            <a:r>
              <a:rPr sz="1500" b="1" i="0">
                <a:solidFill>
                  <a:srgbClr val="0B1F33"/>
                </a:solidFill>
                <a:latin typeface="Arial"/>
              </a:rPr>
              <a:t>Terminal</a:t>
            </a:r>
          </a:p>
        </p:txBody>
      </p:sp>
      <p:sp>
        <p:nvSpPr>
          <p:cNvPr id="18" name="TextBox 17"/>
          <p:cNvSpPr txBox="1"/>
          <p:nvPr/>
        </p:nvSpPr>
        <p:spPr>
          <a:xfrm>
            <a:off x="6144768" y="2121408"/>
            <a:ext cx="1307592" cy="274320"/>
          </a:xfrm>
          <a:prstGeom prst="rect">
            <a:avLst/>
          </a:prstGeom>
          <a:noFill/>
        </p:spPr>
        <p:txBody>
          <a:bodyPr wrap="square" lIns="0" rIns="0" tIns="0" bIns="0" anchor="t">
            <a:spAutoFit/>
          </a:bodyPr>
          <a:lstStyle/>
          <a:p>
            <a:pPr algn="ctr"/>
            <a:r>
              <a:rPr sz="1100" b="0" i="0">
                <a:solidFill>
                  <a:srgbClr val="0B1F33"/>
                </a:solidFill>
                <a:latin typeface="Arial"/>
              </a:rPr>
              <a:t>last 1.2 m</a:t>
            </a:r>
          </a:p>
        </p:txBody>
      </p:sp>
      <p:sp>
        <p:nvSpPr>
          <p:cNvPr id="19" name="Step 6"/>
          <p:cNvSpPr/>
          <p:nvPr/>
        </p:nvSpPr>
        <p:spPr>
          <a:xfrm>
            <a:off x="7543800" y="1645920"/>
            <a:ext cx="1307592" cy="868680"/>
          </a:xfrm>
          <a:prstGeom prst="roundRect">
            <a:avLst>
              <a:gd name="adj" fmla="val 12000"/>
            </a:avLst>
          </a:prstGeom>
          <a:solidFill>
            <a:srgbClr val="F2C230"/>
          </a:solidFill>
          <a:ln>
            <a:noFill/>
          </a:ln>
        </p:spPr>
        <p:txBody>
          <a:bodyPr rtlCol="0" anchor="ctr"/>
          <a:lstStyle/>
          <a:p/>
        </p:txBody>
      </p:sp>
      <p:sp>
        <p:nvSpPr>
          <p:cNvPr id="20" name="TextBox 19"/>
          <p:cNvSpPr txBox="1"/>
          <p:nvPr/>
        </p:nvSpPr>
        <p:spPr>
          <a:xfrm>
            <a:off x="7543800" y="1773936"/>
            <a:ext cx="1307592" cy="320040"/>
          </a:xfrm>
          <a:prstGeom prst="rect">
            <a:avLst/>
          </a:prstGeom>
          <a:noFill/>
        </p:spPr>
        <p:txBody>
          <a:bodyPr wrap="square" lIns="0" rIns="0" tIns="0" bIns="0" anchor="t">
            <a:spAutoFit/>
          </a:bodyPr>
          <a:lstStyle/>
          <a:p>
            <a:pPr algn="ctr"/>
            <a:r>
              <a:rPr sz="1500" b="1" i="0">
                <a:solidFill>
                  <a:srgbClr val="0B1F33"/>
                </a:solidFill>
                <a:latin typeface="Arial"/>
              </a:rPr>
              <a:t>Stop</a:t>
            </a:r>
          </a:p>
        </p:txBody>
      </p:sp>
      <p:sp>
        <p:nvSpPr>
          <p:cNvPr id="21" name="TextBox 20"/>
          <p:cNvSpPr txBox="1"/>
          <p:nvPr/>
        </p:nvSpPr>
        <p:spPr>
          <a:xfrm>
            <a:off x="7543800" y="2121408"/>
            <a:ext cx="1307592" cy="274320"/>
          </a:xfrm>
          <a:prstGeom prst="rect">
            <a:avLst/>
          </a:prstGeom>
          <a:noFill/>
        </p:spPr>
        <p:txBody>
          <a:bodyPr wrap="square" lIns="0" rIns="0" tIns="0" bIns="0" anchor="t">
            <a:spAutoFit/>
          </a:bodyPr>
          <a:lstStyle/>
          <a:p>
            <a:pPr algn="ctr"/>
            <a:r>
              <a:rPr sz="1100" b="0" i="0">
                <a:solidFill>
                  <a:srgbClr val="0B1F33"/>
                </a:solidFill>
                <a:latin typeface="Arial"/>
              </a:rPr>
              <a:t>~0.2 m gap</a:t>
            </a:r>
          </a:p>
        </p:txBody>
      </p:sp>
      <p:sp>
        <p:nvSpPr>
          <p:cNvPr id="22" name="Step 7"/>
          <p:cNvSpPr/>
          <p:nvPr/>
        </p:nvSpPr>
        <p:spPr>
          <a:xfrm>
            <a:off x="8942832" y="1645920"/>
            <a:ext cx="1307592" cy="868680"/>
          </a:xfrm>
          <a:prstGeom prst="roundRect">
            <a:avLst>
              <a:gd name="adj" fmla="val 12000"/>
            </a:avLst>
          </a:prstGeom>
          <a:solidFill>
            <a:srgbClr val="0E7C86"/>
          </a:solidFill>
          <a:ln>
            <a:noFill/>
          </a:ln>
        </p:spPr>
        <p:txBody>
          <a:bodyPr rtlCol="0" anchor="ctr"/>
          <a:lstStyle/>
          <a:p/>
        </p:txBody>
      </p:sp>
      <p:sp>
        <p:nvSpPr>
          <p:cNvPr id="23" name="TextBox 22"/>
          <p:cNvSpPr txBox="1"/>
          <p:nvPr/>
        </p:nvSpPr>
        <p:spPr>
          <a:xfrm>
            <a:off x="8942832" y="1773936"/>
            <a:ext cx="1307592" cy="320040"/>
          </a:xfrm>
          <a:prstGeom prst="rect">
            <a:avLst/>
          </a:prstGeom>
          <a:noFill/>
        </p:spPr>
        <p:txBody>
          <a:bodyPr wrap="square" lIns="0" rIns="0" tIns="0" bIns="0" anchor="t">
            <a:spAutoFit/>
          </a:bodyPr>
          <a:lstStyle/>
          <a:p>
            <a:pPr algn="ctr"/>
            <a:r>
              <a:rPr sz="1500" b="1" i="0">
                <a:solidFill>
                  <a:srgbClr val="FFFFFF"/>
                </a:solidFill>
                <a:latin typeface="Arial"/>
              </a:rPr>
              <a:t>Back off</a:t>
            </a:r>
          </a:p>
        </p:txBody>
      </p:sp>
      <p:sp>
        <p:nvSpPr>
          <p:cNvPr id="24" name="TextBox 23"/>
          <p:cNvSpPr txBox="1"/>
          <p:nvPr/>
        </p:nvSpPr>
        <p:spPr>
          <a:xfrm>
            <a:off x="8942832" y="2121408"/>
            <a:ext cx="1307592" cy="274320"/>
          </a:xfrm>
          <a:prstGeom prst="rect">
            <a:avLst/>
          </a:prstGeom>
          <a:noFill/>
        </p:spPr>
        <p:txBody>
          <a:bodyPr wrap="square" lIns="0" rIns="0" tIns="0" bIns="0" anchor="t">
            <a:spAutoFit/>
          </a:bodyPr>
          <a:lstStyle/>
          <a:p>
            <a:pPr algn="ctr"/>
            <a:r>
              <a:rPr sz="1100" b="0" i="0">
                <a:solidFill>
                  <a:srgbClr val="FFFFFF"/>
                </a:solidFill>
                <a:latin typeface="Arial"/>
              </a:rPr>
              <a:t>0.5 m</a:t>
            </a:r>
          </a:p>
        </p:txBody>
      </p:sp>
      <p:sp>
        <p:nvSpPr>
          <p:cNvPr id="25" name="Step 8"/>
          <p:cNvSpPr/>
          <p:nvPr/>
        </p:nvSpPr>
        <p:spPr>
          <a:xfrm>
            <a:off x="10341864" y="1645920"/>
            <a:ext cx="1307592" cy="868680"/>
          </a:xfrm>
          <a:prstGeom prst="roundRect">
            <a:avLst>
              <a:gd name="adj" fmla="val 12000"/>
            </a:avLst>
          </a:prstGeom>
          <a:solidFill>
            <a:srgbClr val="0E7C86"/>
          </a:solidFill>
          <a:ln>
            <a:noFill/>
          </a:ln>
        </p:spPr>
        <p:txBody>
          <a:bodyPr rtlCol="0" anchor="ctr"/>
          <a:lstStyle/>
          <a:p/>
        </p:txBody>
      </p:sp>
      <p:sp>
        <p:nvSpPr>
          <p:cNvPr id="26" name="TextBox 25"/>
          <p:cNvSpPr txBox="1"/>
          <p:nvPr/>
        </p:nvSpPr>
        <p:spPr>
          <a:xfrm>
            <a:off x="10341864" y="1773936"/>
            <a:ext cx="1307592" cy="320040"/>
          </a:xfrm>
          <a:prstGeom prst="rect">
            <a:avLst/>
          </a:prstGeom>
          <a:noFill/>
        </p:spPr>
        <p:txBody>
          <a:bodyPr wrap="square" lIns="0" rIns="0" tIns="0" bIns="0" anchor="t">
            <a:spAutoFit/>
          </a:bodyPr>
          <a:lstStyle/>
          <a:p>
            <a:pPr algn="ctr"/>
            <a:r>
              <a:rPr sz="1500" b="1" i="0">
                <a:solidFill>
                  <a:srgbClr val="FFFFFF"/>
                </a:solidFill>
                <a:latin typeface="Arial"/>
              </a:rPr>
              <a:t>Surface</a:t>
            </a:r>
          </a:p>
        </p:txBody>
      </p:sp>
      <p:sp>
        <p:nvSpPr>
          <p:cNvPr id="27" name="TextBox 26"/>
          <p:cNvSpPr txBox="1"/>
          <p:nvPr/>
        </p:nvSpPr>
        <p:spPr>
          <a:xfrm>
            <a:off x="10341864" y="2121408"/>
            <a:ext cx="1307592" cy="274320"/>
          </a:xfrm>
          <a:prstGeom prst="rect">
            <a:avLst/>
          </a:prstGeom>
          <a:noFill/>
        </p:spPr>
        <p:txBody>
          <a:bodyPr wrap="square" lIns="0" rIns="0" tIns="0" bIns="0" anchor="t">
            <a:spAutoFit/>
          </a:bodyPr>
          <a:lstStyle/>
          <a:p>
            <a:pPr algn="ctr"/>
            <a:r>
              <a:rPr sz="1100" b="0" i="0">
                <a:solidFill>
                  <a:srgbClr val="FFFFFF"/>
                </a:solidFill>
                <a:latin typeface="Arial"/>
              </a:rPr>
              <a:t>slow ascent</a:t>
            </a:r>
          </a:p>
        </p:txBody>
      </p:sp>
      <p:sp>
        <p:nvSpPr>
          <p:cNvPr id="28" name="TextBox 27"/>
          <p:cNvSpPr txBox="1"/>
          <p:nvPr/>
        </p:nvSpPr>
        <p:spPr>
          <a:xfrm>
            <a:off x="548640" y="2651760"/>
            <a:ext cx="11064240" cy="320040"/>
          </a:xfrm>
          <a:prstGeom prst="rect">
            <a:avLst/>
          </a:prstGeom>
          <a:noFill/>
        </p:spPr>
        <p:txBody>
          <a:bodyPr wrap="square" lIns="0" rIns="0" tIns="0" bIns="0" anchor="t">
            <a:spAutoFit/>
          </a:bodyPr>
          <a:lstStyle/>
          <a:p>
            <a:pPr algn="l"/>
            <a:r>
              <a:rPr sz="1300" b="1" i="0">
                <a:solidFill>
                  <a:srgbClr val="13293D"/>
                </a:solidFill>
                <a:latin typeface="Arial"/>
              </a:rPr>
              <a:t>Fail-safe exits: </a:t>
            </a:r>
            <a:r>
              <a:rPr sz="1300" b="0" i="0">
                <a:solidFill>
                  <a:srgbClr val="5B6B78"/>
                </a:solidFill>
                <a:latin typeface="Arial"/>
              </a:rPr>
              <a:t>no target after a full turn, or detector silent for 30 s  →  hold position, then surface slowly</a:t>
            </a:r>
          </a:p>
        </p:txBody>
      </p:sp>
      <p:sp>
        <p:nvSpPr>
          <p:cNvPr id="29" name="Safety layer 1"/>
          <p:cNvSpPr/>
          <p:nvPr/>
        </p:nvSpPr>
        <p:spPr>
          <a:xfrm>
            <a:off x="548640" y="3154680"/>
            <a:ext cx="3611880" cy="1417320"/>
          </a:xfrm>
          <a:prstGeom prst="roundRect">
            <a:avLst>
              <a:gd name="adj" fmla="val 6000"/>
            </a:avLst>
          </a:prstGeom>
          <a:solidFill>
            <a:srgbClr val="E8F2F4"/>
          </a:solidFill>
          <a:ln>
            <a:noFill/>
          </a:ln>
        </p:spPr>
        <p:txBody>
          <a:bodyPr rtlCol="0" anchor="ctr"/>
          <a:lstStyle/>
          <a:p/>
        </p:txBody>
      </p:sp>
      <p:sp>
        <p:nvSpPr>
          <p:cNvPr id="30" name="Oval 29"/>
          <p:cNvSpPr/>
          <p:nvPr/>
        </p:nvSpPr>
        <p:spPr>
          <a:xfrm>
            <a:off x="731520" y="3355848"/>
            <a:ext cx="411480" cy="411480"/>
          </a:xfrm>
          <a:prstGeom prst="ellipse">
            <a:avLst/>
          </a:prstGeom>
          <a:solidFill>
            <a:srgbClr val="0B1F33"/>
          </a:solidFill>
          <a:ln>
            <a:noFill/>
          </a:ln>
        </p:spPr>
        <p:txBody>
          <a:bodyPr rtlCol="0" anchor="ctr" lIns="0" rIns="0" tIns="0" bIns="0"/>
          <a:lstStyle/>
          <a:p>
            <a:pPr algn="ctr"/>
            <a:r>
              <a:rPr sz="1400" b="1">
                <a:solidFill>
                  <a:srgbClr val="FFFFFF"/>
                </a:solidFill>
                <a:latin typeface="Arial"/>
              </a:rPr>
              <a:t>1</a:t>
            </a:r>
          </a:p>
        </p:txBody>
      </p:sp>
      <p:sp>
        <p:nvSpPr>
          <p:cNvPr id="31" name="TextBox 30"/>
          <p:cNvSpPr txBox="1"/>
          <p:nvPr/>
        </p:nvSpPr>
        <p:spPr>
          <a:xfrm>
            <a:off x="1280160" y="3392424"/>
            <a:ext cx="2697480" cy="365760"/>
          </a:xfrm>
          <a:prstGeom prst="rect">
            <a:avLst/>
          </a:prstGeom>
          <a:noFill/>
        </p:spPr>
        <p:txBody>
          <a:bodyPr wrap="square" lIns="0" rIns="0" tIns="0" bIns="0" anchor="t">
            <a:spAutoFit/>
          </a:bodyPr>
          <a:lstStyle/>
          <a:p>
            <a:pPr algn="l"/>
            <a:r>
              <a:rPr sz="1500" b="1" i="0">
                <a:solidFill>
                  <a:srgbClr val="13293D"/>
                </a:solidFill>
                <a:latin typeface="Arial"/>
              </a:rPr>
              <a:t>Braking-aware speed profile</a:t>
            </a:r>
          </a:p>
        </p:txBody>
      </p:sp>
      <p:sp>
        <p:nvSpPr>
          <p:cNvPr id="32" name="TextBox 31"/>
          <p:cNvSpPr txBox="1"/>
          <p:nvPr/>
        </p:nvSpPr>
        <p:spPr>
          <a:xfrm>
            <a:off x="1280160" y="3776472"/>
            <a:ext cx="2697480" cy="658368"/>
          </a:xfrm>
          <a:prstGeom prst="rect">
            <a:avLst/>
          </a:prstGeom>
          <a:noFill/>
        </p:spPr>
        <p:txBody>
          <a:bodyPr wrap="square" lIns="0" rIns="0" tIns="0" bIns="0" anchor="t">
            <a:spAutoFit/>
          </a:bodyPr>
          <a:lstStyle/>
          <a:p>
            <a:pPr algn="l"/>
            <a:r>
              <a:rPr sz="1300" b="0" i="0">
                <a:solidFill>
                  <a:srgbClr val="13293D"/>
                </a:solidFill>
                <a:latin typeface="Arial"/>
              </a:rPr>
              <a:t>Speed limited to √(2·a·d). Plans 0.02 m/s² braking, below half the measured 0.045 m/s²</a:t>
            </a:r>
          </a:p>
        </p:txBody>
      </p:sp>
      <p:sp>
        <p:nvSpPr>
          <p:cNvPr id="33" name="Safety layer 2"/>
          <p:cNvSpPr/>
          <p:nvPr/>
        </p:nvSpPr>
        <p:spPr>
          <a:xfrm>
            <a:off x="4274820" y="3154680"/>
            <a:ext cx="3611880" cy="1417320"/>
          </a:xfrm>
          <a:prstGeom prst="roundRect">
            <a:avLst>
              <a:gd name="adj" fmla="val 6000"/>
            </a:avLst>
          </a:prstGeom>
          <a:solidFill>
            <a:srgbClr val="E8F2F4"/>
          </a:solidFill>
          <a:ln>
            <a:noFill/>
          </a:ln>
        </p:spPr>
        <p:txBody>
          <a:bodyPr rtlCol="0" anchor="ctr"/>
          <a:lstStyle/>
          <a:p/>
        </p:txBody>
      </p:sp>
      <p:sp>
        <p:nvSpPr>
          <p:cNvPr id="34" name="Oval 33"/>
          <p:cNvSpPr/>
          <p:nvPr/>
        </p:nvSpPr>
        <p:spPr>
          <a:xfrm>
            <a:off x="4457700" y="3355848"/>
            <a:ext cx="411480" cy="411480"/>
          </a:xfrm>
          <a:prstGeom prst="ellipse">
            <a:avLst/>
          </a:prstGeom>
          <a:solidFill>
            <a:srgbClr val="0B1F33"/>
          </a:solidFill>
          <a:ln>
            <a:noFill/>
          </a:ln>
        </p:spPr>
        <p:txBody>
          <a:bodyPr rtlCol="0" anchor="ctr" lIns="0" rIns="0" tIns="0" bIns="0"/>
          <a:lstStyle/>
          <a:p>
            <a:pPr algn="ctr"/>
            <a:r>
              <a:rPr sz="1400" b="1">
                <a:solidFill>
                  <a:srgbClr val="FFFFFF"/>
                </a:solidFill>
                <a:latin typeface="Arial"/>
              </a:rPr>
              <a:t>2</a:t>
            </a:r>
          </a:p>
        </p:txBody>
      </p:sp>
      <p:sp>
        <p:nvSpPr>
          <p:cNvPr id="35" name="TextBox 34"/>
          <p:cNvSpPr txBox="1"/>
          <p:nvPr/>
        </p:nvSpPr>
        <p:spPr>
          <a:xfrm>
            <a:off x="5006340" y="3392424"/>
            <a:ext cx="2697480" cy="365760"/>
          </a:xfrm>
          <a:prstGeom prst="rect">
            <a:avLst/>
          </a:prstGeom>
          <a:noFill/>
        </p:spPr>
        <p:txBody>
          <a:bodyPr wrap="square" lIns="0" rIns="0" tIns="0" bIns="0" anchor="t">
            <a:spAutoFit/>
          </a:bodyPr>
          <a:lstStyle/>
          <a:p>
            <a:pPr algn="l"/>
            <a:r>
              <a:rPr sz="1500" b="1" i="0">
                <a:solidFill>
                  <a:srgbClr val="13293D"/>
                </a:solidFill>
                <a:latin typeface="Arial"/>
              </a:rPr>
              <a:t>Stopping-distance guard</a:t>
            </a:r>
          </a:p>
        </p:txBody>
      </p:sp>
      <p:sp>
        <p:nvSpPr>
          <p:cNvPr id="36" name="TextBox 35"/>
          <p:cNvSpPr txBox="1"/>
          <p:nvPr/>
        </p:nvSpPr>
        <p:spPr>
          <a:xfrm>
            <a:off x="5006340" y="3776472"/>
            <a:ext cx="2697480" cy="658368"/>
          </a:xfrm>
          <a:prstGeom prst="rect">
            <a:avLst/>
          </a:prstGeom>
          <a:noFill/>
        </p:spPr>
        <p:txBody>
          <a:bodyPr wrap="square" lIns="0" rIns="0" tIns="0" bIns="0" anchor="t">
            <a:spAutoFit/>
          </a:bodyPr>
          <a:lstStyle/>
          <a:p>
            <a:pPr algn="l"/>
            <a:r>
              <a:rPr sz="1300" b="0" i="0">
                <a:solidFill>
                  <a:srgbClr val="13293D"/>
                </a:solidFill>
                <a:latin typeface="Arial"/>
              </a:rPr>
              <a:t>Uses the actual measured speed: brakes at once if it could not stop in time</a:t>
            </a:r>
          </a:p>
        </p:txBody>
      </p:sp>
      <p:sp>
        <p:nvSpPr>
          <p:cNvPr id="37" name="Safety layer 3"/>
          <p:cNvSpPr/>
          <p:nvPr/>
        </p:nvSpPr>
        <p:spPr>
          <a:xfrm>
            <a:off x="8001000" y="3154680"/>
            <a:ext cx="3611880" cy="1417320"/>
          </a:xfrm>
          <a:prstGeom prst="roundRect">
            <a:avLst>
              <a:gd name="adj" fmla="val 6000"/>
            </a:avLst>
          </a:prstGeom>
          <a:solidFill>
            <a:srgbClr val="E8F2F4"/>
          </a:solidFill>
          <a:ln>
            <a:noFill/>
          </a:ln>
        </p:spPr>
        <p:txBody>
          <a:bodyPr rtlCol="0" anchor="ctr"/>
          <a:lstStyle/>
          <a:p/>
        </p:txBody>
      </p:sp>
      <p:sp>
        <p:nvSpPr>
          <p:cNvPr id="38" name="Oval 37"/>
          <p:cNvSpPr/>
          <p:nvPr/>
        </p:nvSpPr>
        <p:spPr>
          <a:xfrm>
            <a:off x="8183879" y="3355848"/>
            <a:ext cx="411480" cy="411480"/>
          </a:xfrm>
          <a:prstGeom prst="ellipse">
            <a:avLst/>
          </a:prstGeom>
          <a:solidFill>
            <a:srgbClr val="0B1F33"/>
          </a:solidFill>
          <a:ln>
            <a:noFill/>
          </a:ln>
        </p:spPr>
        <p:txBody>
          <a:bodyPr rtlCol="0" anchor="ctr" lIns="0" rIns="0" tIns="0" bIns="0"/>
          <a:lstStyle/>
          <a:p>
            <a:pPr algn="ctr"/>
            <a:r>
              <a:rPr sz="1400" b="1">
                <a:solidFill>
                  <a:srgbClr val="FFFFFF"/>
                </a:solidFill>
                <a:latin typeface="Arial"/>
              </a:rPr>
              <a:t>3</a:t>
            </a:r>
          </a:p>
        </p:txBody>
      </p:sp>
      <p:sp>
        <p:nvSpPr>
          <p:cNvPr id="39" name="TextBox 38"/>
          <p:cNvSpPr txBox="1"/>
          <p:nvPr/>
        </p:nvSpPr>
        <p:spPr>
          <a:xfrm>
            <a:off x="8732520" y="3392424"/>
            <a:ext cx="2697480" cy="365760"/>
          </a:xfrm>
          <a:prstGeom prst="rect">
            <a:avLst/>
          </a:prstGeom>
          <a:noFill/>
        </p:spPr>
        <p:txBody>
          <a:bodyPr wrap="square" lIns="0" rIns="0" tIns="0" bIns="0" anchor="t">
            <a:spAutoFit/>
          </a:bodyPr>
          <a:lstStyle/>
          <a:p>
            <a:pPr algn="l"/>
            <a:r>
              <a:rPr sz="1500" b="1" i="0">
                <a:solidFill>
                  <a:srgbClr val="13293D"/>
                </a:solidFill>
                <a:latin typeface="Arial"/>
              </a:rPr>
              <a:t>Terminal approach lock</a:t>
            </a:r>
          </a:p>
        </p:txBody>
      </p:sp>
      <p:sp>
        <p:nvSpPr>
          <p:cNvPr id="40" name="TextBox 39"/>
          <p:cNvSpPr txBox="1"/>
          <p:nvPr/>
        </p:nvSpPr>
        <p:spPr>
          <a:xfrm>
            <a:off x="8732520" y="3776472"/>
            <a:ext cx="2697480" cy="658368"/>
          </a:xfrm>
          <a:prstGeom prst="rect">
            <a:avLst/>
          </a:prstGeom>
          <a:noFill/>
        </p:spPr>
        <p:txBody>
          <a:bodyPr wrap="square" lIns="0" rIns="0" tIns="0" bIns="0" anchor="t">
            <a:spAutoFit/>
          </a:bodyPr>
          <a:lstStyle/>
          <a:p>
            <a:pPr algn="l"/>
            <a:r>
              <a:rPr sz="1300" b="0" i="0">
                <a:solidFill>
                  <a:srgbClr val="13293D"/>
                </a:solidFill>
                <a:latin typeface="Arial"/>
              </a:rPr>
              <a:t>From 1.2 m, heading and depth lock; close-up detections can only shorten the range</a:t>
            </a:r>
          </a:p>
        </p:txBody>
      </p:sp>
      <p:sp>
        <p:nvSpPr>
          <p:cNvPr id="41" name="Safety layer 4"/>
          <p:cNvSpPr/>
          <p:nvPr/>
        </p:nvSpPr>
        <p:spPr>
          <a:xfrm>
            <a:off x="548640" y="4754880"/>
            <a:ext cx="3611880" cy="1417320"/>
          </a:xfrm>
          <a:prstGeom prst="roundRect">
            <a:avLst>
              <a:gd name="adj" fmla="val 6000"/>
            </a:avLst>
          </a:prstGeom>
          <a:solidFill>
            <a:srgbClr val="E8F2F4"/>
          </a:solidFill>
          <a:ln>
            <a:noFill/>
          </a:ln>
        </p:spPr>
        <p:txBody>
          <a:bodyPr rtlCol="0" anchor="ctr"/>
          <a:lstStyle/>
          <a:p/>
        </p:txBody>
      </p:sp>
      <p:sp>
        <p:nvSpPr>
          <p:cNvPr id="42" name="Oval 41"/>
          <p:cNvSpPr/>
          <p:nvPr/>
        </p:nvSpPr>
        <p:spPr>
          <a:xfrm>
            <a:off x="731520" y="4956048"/>
            <a:ext cx="411480" cy="411480"/>
          </a:xfrm>
          <a:prstGeom prst="ellipse">
            <a:avLst/>
          </a:prstGeom>
          <a:solidFill>
            <a:srgbClr val="0B1F33"/>
          </a:solidFill>
          <a:ln>
            <a:noFill/>
          </a:ln>
        </p:spPr>
        <p:txBody>
          <a:bodyPr rtlCol="0" anchor="ctr" lIns="0" rIns="0" tIns="0" bIns="0"/>
          <a:lstStyle/>
          <a:p>
            <a:pPr algn="ctr"/>
            <a:r>
              <a:rPr sz="1400" b="1">
                <a:solidFill>
                  <a:srgbClr val="FFFFFF"/>
                </a:solidFill>
                <a:latin typeface="Arial"/>
              </a:rPr>
              <a:t>4</a:t>
            </a:r>
          </a:p>
        </p:txBody>
      </p:sp>
      <p:sp>
        <p:nvSpPr>
          <p:cNvPr id="43" name="TextBox 42"/>
          <p:cNvSpPr txBox="1"/>
          <p:nvPr/>
        </p:nvSpPr>
        <p:spPr>
          <a:xfrm>
            <a:off x="1280160" y="4992624"/>
            <a:ext cx="2697480" cy="365760"/>
          </a:xfrm>
          <a:prstGeom prst="rect">
            <a:avLst/>
          </a:prstGeom>
          <a:noFill/>
        </p:spPr>
        <p:txBody>
          <a:bodyPr wrap="square" lIns="0" rIns="0" tIns="0" bIns="0" anchor="t">
            <a:spAutoFit/>
          </a:bodyPr>
          <a:lstStyle/>
          <a:p>
            <a:pPr algn="l"/>
            <a:r>
              <a:rPr sz="1500" b="1" i="0">
                <a:solidFill>
                  <a:srgbClr val="13293D"/>
                </a:solidFill>
                <a:latin typeface="Arial"/>
              </a:rPr>
              <a:t>Retreat when lost close</a:t>
            </a:r>
          </a:p>
        </p:txBody>
      </p:sp>
      <p:sp>
        <p:nvSpPr>
          <p:cNvPr id="44" name="TextBox 43"/>
          <p:cNvSpPr txBox="1"/>
          <p:nvPr/>
        </p:nvSpPr>
        <p:spPr>
          <a:xfrm>
            <a:off x="1280160" y="5376672"/>
            <a:ext cx="2697480" cy="658368"/>
          </a:xfrm>
          <a:prstGeom prst="rect">
            <a:avLst/>
          </a:prstGeom>
          <a:noFill/>
        </p:spPr>
        <p:txBody>
          <a:bodyPr wrap="square" lIns="0" rIns="0" tIns="0" bIns="0" anchor="t">
            <a:spAutoFit/>
          </a:bodyPr>
          <a:lstStyle/>
          <a:p>
            <a:pPr algn="l"/>
            <a:r>
              <a:rPr sz="1300" b="0" i="0">
                <a:solidFill>
                  <a:srgbClr val="13293D"/>
                </a:solidFill>
                <a:latin typeface="Arial"/>
              </a:rPr>
              <a:t>Target lost within 1.5 m: back straight away to 1.8 m and look again</a:t>
            </a:r>
          </a:p>
        </p:txBody>
      </p:sp>
      <p:sp>
        <p:nvSpPr>
          <p:cNvPr id="45" name="Safety layer 5"/>
          <p:cNvSpPr/>
          <p:nvPr/>
        </p:nvSpPr>
        <p:spPr>
          <a:xfrm>
            <a:off x="4274820" y="4754880"/>
            <a:ext cx="3611880" cy="1417320"/>
          </a:xfrm>
          <a:prstGeom prst="roundRect">
            <a:avLst>
              <a:gd name="adj" fmla="val 6000"/>
            </a:avLst>
          </a:prstGeom>
          <a:solidFill>
            <a:srgbClr val="E8F2F4"/>
          </a:solidFill>
          <a:ln>
            <a:noFill/>
          </a:ln>
        </p:spPr>
        <p:txBody>
          <a:bodyPr rtlCol="0" anchor="ctr"/>
          <a:lstStyle/>
          <a:p/>
        </p:txBody>
      </p:sp>
      <p:sp>
        <p:nvSpPr>
          <p:cNvPr id="46" name="Oval 45"/>
          <p:cNvSpPr/>
          <p:nvPr/>
        </p:nvSpPr>
        <p:spPr>
          <a:xfrm>
            <a:off x="4457700" y="4956048"/>
            <a:ext cx="411480" cy="411480"/>
          </a:xfrm>
          <a:prstGeom prst="ellipse">
            <a:avLst/>
          </a:prstGeom>
          <a:solidFill>
            <a:srgbClr val="0B1F33"/>
          </a:solidFill>
          <a:ln>
            <a:noFill/>
          </a:ln>
        </p:spPr>
        <p:txBody>
          <a:bodyPr rtlCol="0" anchor="ctr" lIns="0" rIns="0" tIns="0" bIns="0"/>
          <a:lstStyle/>
          <a:p>
            <a:pPr algn="ctr"/>
            <a:r>
              <a:rPr sz="1400" b="1">
                <a:solidFill>
                  <a:srgbClr val="FFFFFF"/>
                </a:solidFill>
                <a:latin typeface="Arial"/>
              </a:rPr>
              <a:t>5</a:t>
            </a:r>
          </a:p>
        </p:txBody>
      </p:sp>
      <p:sp>
        <p:nvSpPr>
          <p:cNvPr id="47" name="TextBox 46"/>
          <p:cNvSpPr txBox="1"/>
          <p:nvPr/>
        </p:nvSpPr>
        <p:spPr>
          <a:xfrm>
            <a:off x="5006340" y="4992624"/>
            <a:ext cx="2697480" cy="365760"/>
          </a:xfrm>
          <a:prstGeom prst="rect">
            <a:avLst/>
          </a:prstGeom>
          <a:noFill/>
        </p:spPr>
        <p:txBody>
          <a:bodyPr wrap="square" lIns="0" rIns="0" tIns="0" bIns="0" anchor="t">
            <a:spAutoFit/>
          </a:bodyPr>
          <a:lstStyle/>
          <a:p>
            <a:pPr algn="l"/>
            <a:r>
              <a:rPr sz="1500" b="1" i="0">
                <a:solidFill>
                  <a:srgbClr val="13293D"/>
                </a:solidFill>
                <a:latin typeface="Arial"/>
              </a:rPr>
              <a:t>Contact / stall detector</a:t>
            </a:r>
          </a:p>
        </p:txBody>
      </p:sp>
      <p:sp>
        <p:nvSpPr>
          <p:cNvPr id="48" name="TextBox 47"/>
          <p:cNvSpPr txBox="1"/>
          <p:nvPr/>
        </p:nvSpPr>
        <p:spPr>
          <a:xfrm>
            <a:off x="5006340" y="5376672"/>
            <a:ext cx="2697480" cy="658368"/>
          </a:xfrm>
          <a:prstGeom prst="rect">
            <a:avLst/>
          </a:prstGeom>
          <a:noFill/>
        </p:spPr>
        <p:txBody>
          <a:bodyPr wrap="square" lIns="0" rIns="0" tIns="0" bIns="0" anchor="t">
            <a:spAutoFit/>
          </a:bodyPr>
          <a:lstStyle/>
          <a:p>
            <a:pPr algn="l"/>
            <a:r>
              <a:rPr sz="1300" b="0" i="0">
                <a:solidFill>
                  <a:srgbClr val="13293D"/>
                </a:solidFill>
                <a:latin typeface="Arial"/>
              </a:rPr>
              <a:t>Pushing forward but not moving: stop immediately, back off, surface</a:t>
            </a:r>
          </a:p>
        </p:txBody>
      </p:sp>
      <p:sp>
        <p:nvSpPr>
          <p:cNvPr id="49" name="Safety layer 6"/>
          <p:cNvSpPr/>
          <p:nvPr/>
        </p:nvSpPr>
        <p:spPr>
          <a:xfrm>
            <a:off x="8001000" y="4754880"/>
            <a:ext cx="3611880" cy="1417320"/>
          </a:xfrm>
          <a:prstGeom prst="roundRect">
            <a:avLst>
              <a:gd name="adj" fmla="val 6000"/>
            </a:avLst>
          </a:prstGeom>
          <a:solidFill>
            <a:srgbClr val="E8F2F4"/>
          </a:solidFill>
          <a:ln>
            <a:noFill/>
          </a:ln>
        </p:spPr>
        <p:txBody>
          <a:bodyPr rtlCol="0" anchor="ctr"/>
          <a:lstStyle/>
          <a:p/>
        </p:txBody>
      </p:sp>
      <p:sp>
        <p:nvSpPr>
          <p:cNvPr id="50" name="Oval 49"/>
          <p:cNvSpPr/>
          <p:nvPr/>
        </p:nvSpPr>
        <p:spPr>
          <a:xfrm>
            <a:off x="8183879" y="4956048"/>
            <a:ext cx="411480" cy="411480"/>
          </a:xfrm>
          <a:prstGeom prst="ellipse">
            <a:avLst/>
          </a:prstGeom>
          <a:solidFill>
            <a:srgbClr val="0B1F33"/>
          </a:solidFill>
          <a:ln>
            <a:noFill/>
          </a:ln>
        </p:spPr>
        <p:txBody>
          <a:bodyPr rtlCol="0" anchor="ctr" lIns="0" rIns="0" tIns="0" bIns="0"/>
          <a:lstStyle/>
          <a:p>
            <a:pPr algn="ctr"/>
            <a:r>
              <a:rPr sz="1400" b="1">
                <a:solidFill>
                  <a:srgbClr val="FFFFFF"/>
                </a:solidFill>
                <a:latin typeface="Arial"/>
              </a:rPr>
              <a:t>6</a:t>
            </a:r>
          </a:p>
        </p:txBody>
      </p:sp>
      <p:sp>
        <p:nvSpPr>
          <p:cNvPr id="51" name="TextBox 50"/>
          <p:cNvSpPr txBox="1"/>
          <p:nvPr/>
        </p:nvSpPr>
        <p:spPr>
          <a:xfrm>
            <a:off x="8732520" y="4992624"/>
            <a:ext cx="2697480" cy="365760"/>
          </a:xfrm>
          <a:prstGeom prst="rect">
            <a:avLst/>
          </a:prstGeom>
          <a:noFill/>
        </p:spPr>
        <p:txBody>
          <a:bodyPr wrap="square" lIns="0" rIns="0" tIns="0" bIns="0" anchor="t">
            <a:spAutoFit/>
          </a:bodyPr>
          <a:lstStyle/>
          <a:p>
            <a:pPr algn="l"/>
            <a:r>
              <a:rPr sz="1500" b="1" i="0">
                <a:solidFill>
                  <a:srgbClr val="13293D"/>
                </a:solidFill>
                <a:latin typeface="Arial"/>
              </a:rPr>
              <a:t>Moving-target standoff</a:t>
            </a:r>
          </a:p>
        </p:txBody>
      </p:sp>
      <p:sp>
        <p:nvSpPr>
          <p:cNvPr id="52" name="TextBox 51"/>
          <p:cNvSpPr txBox="1"/>
          <p:nvPr/>
        </p:nvSpPr>
        <p:spPr>
          <a:xfrm>
            <a:off x="8732520" y="5376672"/>
            <a:ext cx="2697480" cy="658368"/>
          </a:xfrm>
          <a:prstGeom prst="rect">
            <a:avLst/>
          </a:prstGeom>
          <a:noFill/>
        </p:spPr>
        <p:txBody>
          <a:bodyPr wrap="square" lIns="0" rIns="0" tIns="0" bIns="0" anchor="t">
            <a:spAutoFit/>
          </a:bodyPr>
          <a:lstStyle/>
          <a:p>
            <a:pPr algn="l"/>
            <a:r>
              <a:rPr sz="1300" b="0" i="0">
                <a:solidFill>
                  <a:srgbClr val="13293D"/>
                </a:solidFill>
                <a:latin typeface="Arial"/>
              </a:rPr>
              <a:t>Case 6 never drives blind; it stops 1.0 m away while still seeing the target</a:t>
            </a:r>
          </a:p>
        </p:txBody>
      </p:sp>
      <p:sp>
        <p:nvSpPr>
          <p:cNvPr id="53" name="TextBox 52"/>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5B6B78"/>
                </a:solidFill>
                <a:latin typeface="Arial"/>
              </a:rPr>
              <a:t>Kyushu Project  ·  Autonomous underwater ROV</a:t>
            </a:r>
          </a:p>
        </p:txBody>
      </p:sp>
      <p:sp>
        <p:nvSpPr>
          <p:cNvPr id="54" name="TextBox 53"/>
          <p:cNvSpPr txBox="1"/>
          <p:nvPr/>
        </p:nvSpPr>
        <p:spPr>
          <a:xfrm>
            <a:off x="10725912" y="6400800"/>
            <a:ext cx="914400" cy="274320"/>
          </a:xfrm>
          <a:prstGeom prst="rect">
            <a:avLst/>
          </a:prstGeom>
          <a:noFill/>
        </p:spPr>
        <p:txBody>
          <a:bodyPr wrap="square" lIns="0" rIns="0" tIns="0" bIns="0" anchor="t">
            <a:spAutoFit/>
          </a:bodyPr>
          <a:lstStyle/>
          <a:p>
            <a:pPr algn="r"/>
            <a:r>
              <a:rPr sz="1000" b="0" i="0">
                <a:solidFill>
                  <a:srgbClr val="5B6B78"/>
                </a:solidFill>
                <a:latin typeface="Arial"/>
              </a:rP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64240" cy="685800"/>
          </a:xfrm>
        </p:spPr>
        <p:txBody>
          <a:bodyPr lIns="0" rIns="0" tIns="0" bIns="0" anchor="t" wrap="square"/>
          <a:lstStyle/>
          <a:p>
            <a:pPr algn="l"/>
            <a:r>
              <a:rPr sz="3200" b="1">
                <a:solidFill>
                  <a:srgbClr val="13293D"/>
                </a:solidFill>
                <a:latin typeface="Arial"/>
              </a:rPr>
              <a:t>All 7 test cases pass against simulator ground truth</a:t>
            </a:r>
          </a:p>
        </p:txBody>
      </p:sp>
      <p:sp>
        <p:nvSpPr>
          <p:cNvPr id="3" name="TextBox 2"/>
          <p:cNvSpPr txBox="1"/>
          <p:nvPr/>
        </p:nvSpPr>
        <p:spPr>
          <a:xfrm>
            <a:off x="548640" y="1078992"/>
            <a:ext cx="11064240" cy="365760"/>
          </a:xfrm>
          <a:prstGeom prst="rect">
            <a:avLst/>
          </a:prstGeom>
          <a:noFill/>
        </p:spPr>
        <p:txBody>
          <a:bodyPr wrap="square" lIns="0" rIns="0" tIns="0" bIns="0" anchor="t">
            <a:spAutoFit/>
          </a:bodyPr>
          <a:lstStyle/>
          <a:p>
            <a:pPr algn="l"/>
            <a:r>
              <a:rPr sz="1500" b="0" i="0">
                <a:solidFill>
                  <a:srgbClr val="5B6B78"/>
                </a:solidFill>
                <a:latin typeface="Arial"/>
              </a:rPr>
              <a:t>YOLO pipeline, final tuning · stop gap = front of hull to target surface, measured in the simulator</a:t>
            </a:r>
          </a:p>
        </p:txBody>
      </p:sp>
      <p:sp>
        <p:nvSpPr>
          <p:cNvPr id="4" name="Result tile 1"/>
          <p:cNvSpPr/>
          <p:nvPr/>
        </p:nvSpPr>
        <p:spPr>
          <a:xfrm>
            <a:off x="548640" y="1600200"/>
            <a:ext cx="2670048" cy="960120"/>
          </a:xfrm>
          <a:prstGeom prst="roundRect">
            <a:avLst>
              <a:gd name="adj" fmla="val 8000"/>
            </a:avLst>
          </a:prstGeom>
          <a:solidFill>
            <a:srgbClr val="0B1F33"/>
          </a:solidFill>
          <a:ln>
            <a:noFill/>
          </a:ln>
        </p:spPr>
        <p:txBody>
          <a:bodyPr rtlCol="0" anchor="ctr"/>
          <a:lstStyle/>
          <a:p/>
        </p:txBody>
      </p:sp>
      <p:sp>
        <p:nvSpPr>
          <p:cNvPr id="5" name="TextBox 4"/>
          <p:cNvSpPr txBox="1"/>
          <p:nvPr/>
        </p:nvSpPr>
        <p:spPr>
          <a:xfrm>
            <a:off x="777240" y="1673352"/>
            <a:ext cx="2304288" cy="502920"/>
          </a:xfrm>
          <a:prstGeom prst="rect">
            <a:avLst/>
          </a:prstGeom>
          <a:noFill/>
        </p:spPr>
        <p:txBody>
          <a:bodyPr wrap="square" lIns="0" rIns="0" tIns="0" bIns="0" anchor="t">
            <a:spAutoFit/>
          </a:bodyPr>
          <a:lstStyle/>
          <a:p>
            <a:pPr algn="l"/>
            <a:r>
              <a:rPr sz="2400" b="1" i="0">
                <a:solidFill>
                  <a:srgbClr val="F2C230"/>
                </a:solidFill>
                <a:latin typeface="Arial"/>
              </a:rPr>
              <a:t>0</a:t>
            </a:r>
          </a:p>
        </p:txBody>
      </p:sp>
      <p:sp>
        <p:nvSpPr>
          <p:cNvPr id="6" name="TextBox 5"/>
          <p:cNvSpPr txBox="1"/>
          <p:nvPr/>
        </p:nvSpPr>
        <p:spPr>
          <a:xfrm>
            <a:off x="777240" y="2157984"/>
            <a:ext cx="2304288" cy="320040"/>
          </a:xfrm>
          <a:prstGeom prst="rect">
            <a:avLst/>
          </a:prstGeom>
          <a:noFill/>
        </p:spPr>
        <p:txBody>
          <a:bodyPr wrap="square" lIns="0" rIns="0" tIns="0" bIns="0" anchor="t">
            <a:spAutoFit/>
          </a:bodyPr>
          <a:lstStyle/>
          <a:p>
            <a:pPr algn="l"/>
            <a:r>
              <a:rPr sz="1200" b="0" i="0">
                <a:solidFill>
                  <a:srgbClr val="FFFFFF"/>
                </a:solidFill>
                <a:latin typeface="Arial"/>
              </a:rPr>
              <a:t>contacts in all runs</a:t>
            </a:r>
          </a:p>
        </p:txBody>
      </p:sp>
      <p:sp>
        <p:nvSpPr>
          <p:cNvPr id="7" name="Result tile 2"/>
          <p:cNvSpPr/>
          <p:nvPr/>
        </p:nvSpPr>
        <p:spPr>
          <a:xfrm>
            <a:off x="3346704" y="1600200"/>
            <a:ext cx="2670048" cy="960120"/>
          </a:xfrm>
          <a:prstGeom prst="roundRect">
            <a:avLst>
              <a:gd name="adj" fmla="val 8000"/>
            </a:avLst>
          </a:prstGeom>
          <a:solidFill>
            <a:srgbClr val="0B1F33"/>
          </a:solidFill>
          <a:ln>
            <a:noFill/>
          </a:ln>
        </p:spPr>
        <p:txBody>
          <a:bodyPr rtlCol="0" anchor="ctr"/>
          <a:lstStyle/>
          <a:p/>
        </p:txBody>
      </p:sp>
      <p:sp>
        <p:nvSpPr>
          <p:cNvPr id="8" name="TextBox 7"/>
          <p:cNvSpPr txBox="1"/>
          <p:nvPr/>
        </p:nvSpPr>
        <p:spPr>
          <a:xfrm>
            <a:off x="3575304" y="1673352"/>
            <a:ext cx="2304288" cy="502920"/>
          </a:xfrm>
          <a:prstGeom prst="rect">
            <a:avLst/>
          </a:prstGeom>
          <a:noFill/>
        </p:spPr>
        <p:txBody>
          <a:bodyPr wrap="square" lIns="0" rIns="0" tIns="0" bIns="0" anchor="t">
            <a:spAutoFit/>
          </a:bodyPr>
          <a:lstStyle/>
          <a:p>
            <a:pPr algn="l"/>
            <a:r>
              <a:rPr sz="2400" b="1" i="0">
                <a:solidFill>
                  <a:srgbClr val="F2C230"/>
                </a:solidFill>
                <a:latin typeface="Arial"/>
              </a:rPr>
              <a:t>0.27–0.37 m</a:t>
            </a:r>
          </a:p>
        </p:txBody>
      </p:sp>
      <p:sp>
        <p:nvSpPr>
          <p:cNvPr id="9" name="TextBox 8"/>
          <p:cNvSpPr txBox="1"/>
          <p:nvPr/>
        </p:nvSpPr>
        <p:spPr>
          <a:xfrm>
            <a:off x="3575304" y="2157984"/>
            <a:ext cx="2304288" cy="320040"/>
          </a:xfrm>
          <a:prstGeom prst="rect">
            <a:avLst/>
          </a:prstGeom>
          <a:noFill/>
        </p:spPr>
        <p:txBody>
          <a:bodyPr wrap="square" lIns="0" rIns="0" tIns="0" bIns="0" anchor="t">
            <a:spAutoFit/>
          </a:bodyPr>
          <a:lstStyle/>
          <a:p>
            <a:pPr algn="l"/>
            <a:r>
              <a:rPr sz="1200" b="0" i="0">
                <a:solidFill>
                  <a:srgbClr val="FFFFFF"/>
                </a:solidFill>
                <a:latin typeface="Arial"/>
              </a:rPr>
              <a:t>closest approach, cases 1–5</a:t>
            </a:r>
          </a:p>
        </p:txBody>
      </p:sp>
      <p:sp>
        <p:nvSpPr>
          <p:cNvPr id="10" name="Result tile 3"/>
          <p:cNvSpPr/>
          <p:nvPr/>
        </p:nvSpPr>
        <p:spPr>
          <a:xfrm>
            <a:off x="6144768" y="1600200"/>
            <a:ext cx="2670048" cy="960120"/>
          </a:xfrm>
          <a:prstGeom prst="roundRect">
            <a:avLst>
              <a:gd name="adj" fmla="val 8000"/>
            </a:avLst>
          </a:prstGeom>
          <a:solidFill>
            <a:srgbClr val="0B1F33"/>
          </a:solidFill>
          <a:ln>
            <a:noFill/>
          </a:ln>
        </p:spPr>
        <p:txBody>
          <a:bodyPr rtlCol="0" anchor="ctr"/>
          <a:lstStyle/>
          <a:p/>
        </p:txBody>
      </p:sp>
      <p:sp>
        <p:nvSpPr>
          <p:cNvPr id="11" name="TextBox 10"/>
          <p:cNvSpPr txBox="1"/>
          <p:nvPr/>
        </p:nvSpPr>
        <p:spPr>
          <a:xfrm>
            <a:off x="6373368" y="1673352"/>
            <a:ext cx="2304288" cy="502920"/>
          </a:xfrm>
          <a:prstGeom prst="rect">
            <a:avLst/>
          </a:prstGeom>
          <a:noFill/>
        </p:spPr>
        <p:txBody>
          <a:bodyPr wrap="square" lIns="0" rIns="0" tIns="0" bIns="0" anchor="t">
            <a:spAutoFit/>
          </a:bodyPr>
          <a:lstStyle/>
          <a:p>
            <a:pPr algn="l"/>
            <a:r>
              <a:rPr sz="2400" b="1" i="0">
                <a:solidFill>
                  <a:srgbClr val="F2C230"/>
                </a:solidFill>
                <a:latin typeface="Arial"/>
              </a:rPr>
              <a:t>≤ 0.10 m/s</a:t>
            </a:r>
          </a:p>
        </p:txBody>
      </p:sp>
      <p:sp>
        <p:nvSpPr>
          <p:cNvPr id="12" name="TextBox 11"/>
          <p:cNvSpPr txBox="1"/>
          <p:nvPr/>
        </p:nvSpPr>
        <p:spPr>
          <a:xfrm>
            <a:off x="6373368" y="2157984"/>
            <a:ext cx="2304288" cy="320040"/>
          </a:xfrm>
          <a:prstGeom prst="rect">
            <a:avLst/>
          </a:prstGeom>
          <a:noFill/>
        </p:spPr>
        <p:txBody>
          <a:bodyPr wrap="square" lIns="0" rIns="0" tIns="0" bIns="0" anchor="t">
            <a:spAutoFit/>
          </a:bodyPr>
          <a:lstStyle/>
          <a:p>
            <a:pPr algn="l"/>
            <a:r>
              <a:rPr sz="1200" b="0" i="0">
                <a:solidFill>
                  <a:srgbClr val="FFFFFF"/>
                </a:solidFill>
                <a:latin typeface="Arial"/>
              </a:rPr>
              <a:t>speed within 1 m</a:t>
            </a:r>
          </a:p>
        </p:txBody>
      </p:sp>
      <p:sp>
        <p:nvSpPr>
          <p:cNvPr id="13" name="Result tile 4"/>
          <p:cNvSpPr/>
          <p:nvPr/>
        </p:nvSpPr>
        <p:spPr>
          <a:xfrm>
            <a:off x="8942832" y="1600200"/>
            <a:ext cx="2670048" cy="960120"/>
          </a:xfrm>
          <a:prstGeom prst="roundRect">
            <a:avLst>
              <a:gd name="adj" fmla="val 8000"/>
            </a:avLst>
          </a:prstGeom>
          <a:solidFill>
            <a:srgbClr val="0B1F33"/>
          </a:solidFill>
          <a:ln>
            <a:noFill/>
          </a:ln>
        </p:spPr>
        <p:txBody>
          <a:bodyPr rtlCol="0" anchor="ctr"/>
          <a:lstStyle/>
          <a:p/>
        </p:txBody>
      </p:sp>
      <p:sp>
        <p:nvSpPr>
          <p:cNvPr id="14" name="TextBox 13"/>
          <p:cNvSpPr txBox="1"/>
          <p:nvPr/>
        </p:nvSpPr>
        <p:spPr>
          <a:xfrm>
            <a:off x="9171432" y="1673352"/>
            <a:ext cx="2304288" cy="502920"/>
          </a:xfrm>
          <a:prstGeom prst="rect">
            <a:avLst/>
          </a:prstGeom>
          <a:noFill/>
        </p:spPr>
        <p:txBody>
          <a:bodyPr wrap="square" lIns="0" rIns="0" tIns="0" bIns="0" anchor="t">
            <a:spAutoFit/>
          </a:bodyPr>
          <a:lstStyle/>
          <a:p>
            <a:pPr algn="l"/>
            <a:r>
              <a:rPr sz="2400" b="1" i="0">
                <a:solidFill>
                  <a:srgbClr val="F2C230"/>
                </a:solidFill>
                <a:latin typeface="Arial"/>
              </a:rPr>
              <a:t>≤ 8 cm</a:t>
            </a:r>
          </a:p>
        </p:txBody>
      </p:sp>
      <p:sp>
        <p:nvSpPr>
          <p:cNvPr id="15" name="TextBox 14"/>
          <p:cNvSpPr txBox="1"/>
          <p:nvPr/>
        </p:nvSpPr>
        <p:spPr>
          <a:xfrm>
            <a:off x="9171432" y="2157984"/>
            <a:ext cx="2304288" cy="320040"/>
          </a:xfrm>
          <a:prstGeom prst="rect">
            <a:avLst/>
          </a:prstGeom>
          <a:noFill/>
        </p:spPr>
        <p:txBody>
          <a:bodyPr wrap="square" lIns="0" rIns="0" tIns="0" bIns="0" anchor="t">
            <a:spAutoFit/>
          </a:bodyPr>
          <a:lstStyle/>
          <a:p>
            <a:pPr algn="l"/>
            <a:r>
              <a:rPr sz="1200" b="0" i="0">
                <a:solidFill>
                  <a:srgbClr val="FFFFFF"/>
                </a:solidFill>
                <a:latin typeface="Arial"/>
              </a:rPr>
              <a:t>centring error, cases 1–5</a:t>
            </a:r>
          </a:p>
        </p:txBody>
      </p:sp>
      <p:graphicFrame>
        <p:nvGraphicFramePr>
          <p:cNvPr id="16" name="Results table"/>
          <p:cNvGraphicFramePr>
            <a:graphicFrameLocks noGrp="1"/>
          </p:cNvGraphicFramePr>
          <p:nvPr/>
        </p:nvGraphicFramePr>
        <p:xfrm>
          <a:off x="548640" y="2788920"/>
          <a:ext cx="6492240" cy="3218688"/>
        </p:xfrm>
        <a:graphic>
          <a:graphicData uri="http://schemas.openxmlformats.org/drawingml/2006/table">
            <a:tbl>
              <a:tblPr firstRow="1" bandRow="0">
                <a:tableStyleId>{5C22544A-7EE6-4342-B048-85BDC9FD1C3A}</a:tableStyleId>
              </a:tblPr>
              <a:tblGrid>
                <a:gridCol w="640080"/>
                <a:gridCol w="1828800"/>
                <a:gridCol w="1143000"/>
                <a:gridCol w="960120"/>
                <a:gridCol w="1005840"/>
                <a:gridCol w="914400"/>
              </a:tblGrid>
              <a:tr h="402336">
                <a:tc>
                  <a:txBody>
                    <a:bodyPr wrap="square"/>
                    <a:lstStyle/>
                    <a:p>
                      <a:pPr algn="ctr"/>
                      <a:r>
                        <a:rPr sz="1200" b="1">
                          <a:solidFill>
                            <a:srgbClr val="FFFFFF"/>
                          </a:solidFill>
                          <a:latin typeface="Arial"/>
                        </a:rPr>
                        <a:t>Case</a:t>
                      </a:r>
                    </a:p>
                  </a:txBody>
                  <a:tcPr marL="73152" marR="73152" marT="27432" marB="27432" anchor="ctr">
                    <a:solidFill>
                      <a:srgbClr val="0E7C86"/>
                    </a:solidFill>
                  </a:tcPr>
                </a:tc>
                <a:tc>
                  <a:txBody>
                    <a:bodyPr wrap="square"/>
                    <a:lstStyle/>
                    <a:p>
                      <a:pPr algn="l"/>
                      <a:r>
                        <a:rPr sz="1200" b="1">
                          <a:solidFill>
                            <a:srgbClr val="FFFFFF"/>
                          </a:solidFill>
                          <a:latin typeface="Arial"/>
                        </a:rPr>
                        <a:t>Scenario</a:t>
                      </a:r>
                    </a:p>
                  </a:txBody>
                  <a:tcPr marL="73152" marR="73152" marT="27432" marB="27432" anchor="ctr">
                    <a:solidFill>
                      <a:srgbClr val="0E7C86"/>
                    </a:solidFill>
                  </a:tcPr>
                </a:tc>
                <a:tc>
                  <a:txBody>
                    <a:bodyPr wrap="square"/>
                    <a:lstStyle/>
                    <a:p>
                      <a:pPr algn="ctr"/>
                      <a:r>
                        <a:rPr sz="1200" b="1">
                          <a:solidFill>
                            <a:srgbClr val="FFFFFF"/>
                          </a:solidFill>
                          <a:latin typeface="Arial"/>
                        </a:rPr>
                        <a:t>Stop gap</a:t>
                      </a:r>
                    </a:p>
                  </a:txBody>
                  <a:tcPr marL="73152" marR="73152" marT="27432" marB="27432" anchor="ctr">
                    <a:solidFill>
                      <a:srgbClr val="0E7C86"/>
                    </a:solidFill>
                  </a:tcPr>
                </a:tc>
                <a:tc>
                  <a:txBody>
                    <a:bodyPr wrap="square"/>
                    <a:lstStyle/>
                    <a:p>
                      <a:pPr algn="ctr"/>
                      <a:r>
                        <a:rPr sz="1200" b="1">
                          <a:solidFill>
                            <a:srgbClr val="FFFFFF"/>
                          </a:solidFill>
                          <a:latin typeface="Arial"/>
                        </a:rPr>
                        <a:t>Lateral</a:t>
                      </a:r>
                    </a:p>
                  </a:txBody>
                  <a:tcPr marL="73152" marR="73152" marT="27432" marB="27432" anchor="ctr">
                    <a:solidFill>
                      <a:srgbClr val="0E7C86"/>
                    </a:solidFill>
                  </a:tcPr>
                </a:tc>
                <a:tc>
                  <a:txBody>
                    <a:bodyPr wrap="square"/>
                    <a:lstStyle/>
                    <a:p>
                      <a:pPr algn="ctr"/>
                      <a:r>
                        <a:rPr sz="1200" b="1">
                          <a:solidFill>
                            <a:srgbClr val="FFFFFF"/>
                          </a:solidFill>
                          <a:latin typeface="Arial"/>
                        </a:rPr>
                        <a:t>Vertical</a:t>
                      </a:r>
                    </a:p>
                  </a:txBody>
                  <a:tcPr marL="73152" marR="73152" marT="27432" marB="27432" anchor="ctr">
                    <a:solidFill>
                      <a:srgbClr val="0E7C86"/>
                    </a:solidFill>
                  </a:tcPr>
                </a:tc>
                <a:tc>
                  <a:txBody>
                    <a:bodyPr wrap="square"/>
                    <a:lstStyle/>
                    <a:p>
                      <a:pPr algn="ctr"/>
                      <a:r>
                        <a:rPr sz="1200" b="1">
                          <a:solidFill>
                            <a:srgbClr val="FFFFFF"/>
                          </a:solidFill>
                          <a:latin typeface="Arial"/>
                        </a:rPr>
                        <a:t>Result</a:t>
                      </a:r>
                    </a:p>
                  </a:txBody>
                  <a:tcPr marL="73152" marR="73152" marT="27432" marB="27432" anchor="ctr">
                    <a:solidFill>
                      <a:srgbClr val="0E7C86"/>
                    </a:solidFill>
                  </a:tcPr>
                </a:tc>
              </a:tr>
              <a:tr h="402336">
                <a:tc>
                  <a:txBody>
                    <a:bodyPr wrap="square"/>
                    <a:lstStyle/>
                    <a:p>
                      <a:pPr algn="ctr"/>
                      <a:r>
                        <a:rPr sz="1200" b="0">
                          <a:solidFill>
                            <a:srgbClr val="13293D"/>
                          </a:solidFill>
                          <a:latin typeface="Arial"/>
                        </a:rPr>
                        <a:t>1</a:t>
                      </a:r>
                    </a:p>
                  </a:txBody>
                  <a:tcPr marL="73152" marR="73152" marT="27432" marB="27432" anchor="ctr">
                    <a:solidFill>
                      <a:srgbClr val="FFFFFF"/>
                    </a:solidFill>
                  </a:tcPr>
                </a:tc>
                <a:tc>
                  <a:txBody>
                    <a:bodyPr wrap="square"/>
                    <a:lstStyle/>
                    <a:p>
                      <a:pPr algn="l"/>
                      <a:r>
                        <a:rPr sz="1200" b="0">
                          <a:solidFill>
                            <a:srgbClr val="13293D"/>
                          </a:solidFill>
                          <a:latin typeface="Arial"/>
                        </a:rPr>
                        <a:t>Target in front</a:t>
                      </a:r>
                    </a:p>
                  </a:txBody>
                  <a:tcPr marL="73152" marR="73152" marT="27432" marB="27432" anchor="ctr">
                    <a:solidFill>
                      <a:srgbClr val="FFFFFF"/>
                    </a:solidFill>
                  </a:tcPr>
                </a:tc>
                <a:tc>
                  <a:txBody>
                    <a:bodyPr wrap="square"/>
                    <a:lstStyle/>
                    <a:p>
                      <a:pPr algn="ctr"/>
                      <a:r>
                        <a:rPr sz="1200" b="0">
                          <a:solidFill>
                            <a:srgbClr val="13293D"/>
                          </a:solidFill>
                          <a:latin typeface="Arial"/>
                        </a:rPr>
                        <a:t>0.37 m</a:t>
                      </a:r>
                    </a:p>
                  </a:txBody>
                  <a:tcPr marL="73152" marR="73152" marT="27432" marB="27432" anchor="ctr">
                    <a:solidFill>
                      <a:srgbClr val="FFFFFF"/>
                    </a:solidFill>
                  </a:tcPr>
                </a:tc>
                <a:tc>
                  <a:txBody>
                    <a:bodyPr wrap="square"/>
                    <a:lstStyle/>
                    <a:p>
                      <a:pPr algn="ctr"/>
                      <a:r>
                        <a:rPr sz="1200" b="0">
                          <a:solidFill>
                            <a:srgbClr val="13293D"/>
                          </a:solidFill>
                          <a:latin typeface="Arial"/>
                        </a:rPr>
                        <a:t>−0.06 m</a:t>
                      </a:r>
                    </a:p>
                  </a:txBody>
                  <a:tcPr marL="73152" marR="73152" marT="27432" marB="27432" anchor="ctr">
                    <a:solidFill>
                      <a:srgbClr val="FFFFFF"/>
                    </a:solidFill>
                  </a:tcPr>
                </a:tc>
                <a:tc>
                  <a:txBody>
                    <a:bodyPr wrap="square"/>
                    <a:lstStyle/>
                    <a:p>
                      <a:pPr algn="ctr"/>
                      <a:r>
                        <a:rPr sz="1200" b="0">
                          <a:solidFill>
                            <a:srgbClr val="13293D"/>
                          </a:solidFill>
                          <a:latin typeface="Arial"/>
                        </a:rPr>
                        <a:t>+0.01 m</a:t>
                      </a:r>
                    </a:p>
                  </a:txBody>
                  <a:tcPr marL="73152" marR="73152" marT="27432" marB="27432" anchor="ctr">
                    <a:solidFill>
                      <a:srgbClr val="FFFFFF"/>
                    </a:solidFill>
                  </a:tcPr>
                </a:tc>
                <a:tc>
                  <a:txBody>
                    <a:bodyPr wrap="square"/>
                    <a:lstStyle/>
                    <a:p>
                      <a:pPr algn="ctr"/>
                      <a:r>
                        <a:rPr sz="1200" b="1">
                          <a:solidFill>
                            <a:srgbClr val="1E8E5A"/>
                          </a:solidFill>
                          <a:latin typeface="Arial"/>
                        </a:rPr>
                        <a:t>Pass</a:t>
                      </a:r>
                    </a:p>
                  </a:txBody>
                  <a:tcPr marL="73152" marR="73152" marT="27432" marB="27432" anchor="ctr">
                    <a:solidFill>
                      <a:srgbClr val="FFFFFF"/>
                    </a:solidFill>
                  </a:tcPr>
                </a:tc>
              </a:tr>
              <a:tr h="402336">
                <a:tc>
                  <a:txBody>
                    <a:bodyPr wrap="square"/>
                    <a:lstStyle/>
                    <a:p>
                      <a:pPr algn="ctr"/>
                      <a:r>
                        <a:rPr sz="1200" b="0">
                          <a:solidFill>
                            <a:srgbClr val="13293D"/>
                          </a:solidFill>
                          <a:latin typeface="Arial"/>
                        </a:rPr>
                        <a:t>2</a:t>
                      </a:r>
                    </a:p>
                  </a:txBody>
                  <a:tcPr marL="73152" marR="73152" marT="27432" marB="27432" anchor="ctr">
                    <a:solidFill>
                      <a:srgbClr val="E8F2F4"/>
                    </a:solidFill>
                  </a:tcPr>
                </a:tc>
                <a:tc>
                  <a:txBody>
                    <a:bodyPr wrap="square"/>
                    <a:lstStyle/>
                    <a:p>
                      <a:pPr algn="l"/>
                      <a:r>
                        <a:rPr sz="1200" b="0">
                          <a:solidFill>
                            <a:srgbClr val="13293D"/>
                          </a:solidFill>
                          <a:latin typeface="Arial"/>
                        </a:rPr>
                        <a:t>Target above</a:t>
                      </a:r>
                    </a:p>
                  </a:txBody>
                  <a:tcPr marL="73152" marR="73152" marT="27432" marB="27432" anchor="ctr">
                    <a:solidFill>
                      <a:srgbClr val="E8F2F4"/>
                    </a:solidFill>
                  </a:tcPr>
                </a:tc>
                <a:tc>
                  <a:txBody>
                    <a:bodyPr wrap="square"/>
                    <a:lstStyle/>
                    <a:p>
                      <a:pPr algn="ctr"/>
                      <a:r>
                        <a:rPr sz="1200" b="0">
                          <a:solidFill>
                            <a:srgbClr val="13293D"/>
                          </a:solidFill>
                          <a:latin typeface="Arial"/>
                        </a:rPr>
                        <a:t>0.31 m</a:t>
                      </a:r>
                    </a:p>
                  </a:txBody>
                  <a:tcPr marL="73152" marR="73152" marT="27432" marB="27432" anchor="ctr">
                    <a:solidFill>
                      <a:srgbClr val="E8F2F4"/>
                    </a:solidFill>
                  </a:tcPr>
                </a:tc>
                <a:tc>
                  <a:txBody>
                    <a:bodyPr wrap="square"/>
                    <a:lstStyle/>
                    <a:p>
                      <a:pPr algn="ctr"/>
                      <a:r>
                        <a:rPr sz="1200" b="0">
                          <a:solidFill>
                            <a:srgbClr val="13293D"/>
                          </a:solidFill>
                          <a:latin typeface="Arial"/>
                        </a:rPr>
                        <a:t>0.00 m</a:t>
                      </a:r>
                    </a:p>
                  </a:txBody>
                  <a:tcPr marL="73152" marR="73152" marT="27432" marB="27432" anchor="ctr">
                    <a:solidFill>
                      <a:srgbClr val="E8F2F4"/>
                    </a:solidFill>
                  </a:tcPr>
                </a:tc>
                <a:tc>
                  <a:txBody>
                    <a:bodyPr wrap="square"/>
                    <a:lstStyle/>
                    <a:p>
                      <a:pPr algn="ctr"/>
                      <a:r>
                        <a:rPr sz="1200" b="0">
                          <a:solidFill>
                            <a:srgbClr val="13293D"/>
                          </a:solidFill>
                          <a:latin typeface="Arial"/>
                        </a:rPr>
                        <a:t>−0.01 m</a:t>
                      </a:r>
                    </a:p>
                  </a:txBody>
                  <a:tcPr marL="73152" marR="73152" marT="27432" marB="27432" anchor="ctr">
                    <a:solidFill>
                      <a:srgbClr val="E8F2F4"/>
                    </a:solidFill>
                  </a:tcPr>
                </a:tc>
                <a:tc>
                  <a:txBody>
                    <a:bodyPr wrap="square"/>
                    <a:lstStyle/>
                    <a:p>
                      <a:pPr algn="ctr"/>
                      <a:r>
                        <a:rPr sz="1200" b="1">
                          <a:solidFill>
                            <a:srgbClr val="1E8E5A"/>
                          </a:solidFill>
                          <a:latin typeface="Arial"/>
                        </a:rPr>
                        <a:t>Pass</a:t>
                      </a:r>
                    </a:p>
                  </a:txBody>
                  <a:tcPr marL="73152" marR="73152" marT="27432" marB="27432" anchor="ctr">
                    <a:solidFill>
                      <a:srgbClr val="E8F2F4"/>
                    </a:solidFill>
                  </a:tcPr>
                </a:tc>
              </a:tr>
              <a:tr h="402336">
                <a:tc>
                  <a:txBody>
                    <a:bodyPr wrap="square"/>
                    <a:lstStyle/>
                    <a:p>
                      <a:pPr algn="ctr"/>
                      <a:r>
                        <a:rPr sz="1200" b="0">
                          <a:solidFill>
                            <a:srgbClr val="13293D"/>
                          </a:solidFill>
                          <a:latin typeface="Arial"/>
                        </a:rPr>
                        <a:t>3</a:t>
                      </a:r>
                    </a:p>
                  </a:txBody>
                  <a:tcPr marL="73152" marR="73152" marT="27432" marB="27432" anchor="ctr">
                    <a:solidFill>
                      <a:srgbClr val="FFFFFF"/>
                    </a:solidFill>
                  </a:tcPr>
                </a:tc>
                <a:tc>
                  <a:txBody>
                    <a:bodyPr wrap="square"/>
                    <a:lstStyle/>
                    <a:p>
                      <a:pPr algn="l"/>
                      <a:r>
                        <a:rPr sz="1200" b="0">
                          <a:solidFill>
                            <a:srgbClr val="13293D"/>
                          </a:solidFill>
                          <a:latin typeface="Arial"/>
                        </a:rPr>
                        <a:t>Target below</a:t>
                      </a:r>
                    </a:p>
                  </a:txBody>
                  <a:tcPr marL="73152" marR="73152" marT="27432" marB="27432" anchor="ctr">
                    <a:solidFill>
                      <a:srgbClr val="FFFFFF"/>
                    </a:solidFill>
                  </a:tcPr>
                </a:tc>
                <a:tc>
                  <a:txBody>
                    <a:bodyPr wrap="square"/>
                    <a:lstStyle/>
                    <a:p>
                      <a:pPr algn="ctr"/>
                      <a:r>
                        <a:rPr sz="1200" b="0">
                          <a:solidFill>
                            <a:srgbClr val="13293D"/>
                          </a:solidFill>
                          <a:latin typeface="Arial"/>
                        </a:rPr>
                        <a:t>0.34 m</a:t>
                      </a:r>
                    </a:p>
                  </a:txBody>
                  <a:tcPr marL="73152" marR="73152" marT="27432" marB="27432" anchor="ctr">
                    <a:solidFill>
                      <a:srgbClr val="FFFFFF"/>
                    </a:solidFill>
                  </a:tcPr>
                </a:tc>
                <a:tc>
                  <a:txBody>
                    <a:bodyPr wrap="square"/>
                    <a:lstStyle/>
                    <a:p>
                      <a:pPr algn="ctr"/>
                      <a:r>
                        <a:rPr sz="1200" b="0">
                          <a:solidFill>
                            <a:srgbClr val="13293D"/>
                          </a:solidFill>
                          <a:latin typeface="Arial"/>
                        </a:rPr>
                        <a:t>0.00 m</a:t>
                      </a:r>
                    </a:p>
                  </a:txBody>
                  <a:tcPr marL="73152" marR="73152" marT="27432" marB="27432" anchor="ctr">
                    <a:solidFill>
                      <a:srgbClr val="FFFFFF"/>
                    </a:solidFill>
                  </a:tcPr>
                </a:tc>
                <a:tc>
                  <a:txBody>
                    <a:bodyPr wrap="square"/>
                    <a:lstStyle/>
                    <a:p>
                      <a:pPr algn="ctr"/>
                      <a:r>
                        <a:rPr sz="1200" b="0">
                          <a:solidFill>
                            <a:srgbClr val="13293D"/>
                          </a:solidFill>
                          <a:latin typeface="Arial"/>
                        </a:rPr>
                        <a:t>+0.02 m</a:t>
                      </a:r>
                    </a:p>
                  </a:txBody>
                  <a:tcPr marL="73152" marR="73152" marT="27432" marB="27432" anchor="ctr">
                    <a:solidFill>
                      <a:srgbClr val="FFFFFF"/>
                    </a:solidFill>
                  </a:tcPr>
                </a:tc>
                <a:tc>
                  <a:txBody>
                    <a:bodyPr wrap="square"/>
                    <a:lstStyle/>
                    <a:p>
                      <a:pPr algn="ctr"/>
                      <a:r>
                        <a:rPr sz="1200" b="1">
                          <a:solidFill>
                            <a:srgbClr val="1E8E5A"/>
                          </a:solidFill>
                          <a:latin typeface="Arial"/>
                        </a:rPr>
                        <a:t>Pass</a:t>
                      </a:r>
                    </a:p>
                  </a:txBody>
                  <a:tcPr marL="73152" marR="73152" marT="27432" marB="27432" anchor="ctr">
                    <a:solidFill>
                      <a:srgbClr val="FFFFFF"/>
                    </a:solidFill>
                  </a:tcPr>
                </a:tc>
              </a:tr>
              <a:tr h="402336">
                <a:tc>
                  <a:txBody>
                    <a:bodyPr wrap="square"/>
                    <a:lstStyle/>
                    <a:p>
                      <a:pPr algn="ctr"/>
                      <a:r>
                        <a:rPr sz="1200" b="0">
                          <a:solidFill>
                            <a:srgbClr val="13293D"/>
                          </a:solidFill>
                          <a:latin typeface="Arial"/>
                        </a:rPr>
                        <a:t>4</a:t>
                      </a:r>
                    </a:p>
                  </a:txBody>
                  <a:tcPr marL="73152" marR="73152" marT="27432" marB="27432" anchor="ctr">
                    <a:solidFill>
                      <a:srgbClr val="E8F2F4"/>
                    </a:solidFill>
                  </a:tcPr>
                </a:tc>
                <a:tc>
                  <a:txBody>
                    <a:bodyPr wrap="square"/>
                    <a:lstStyle/>
                    <a:p>
                      <a:pPr algn="l"/>
                      <a:r>
                        <a:rPr sz="1200" b="0">
                          <a:solidFill>
                            <a:srgbClr val="13293D"/>
                          </a:solidFill>
                          <a:latin typeface="Arial"/>
                        </a:rPr>
                        <a:t>Behind (search)</a:t>
                      </a:r>
                    </a:p>
                  </a:txBody>
                  <a:tcPr marL="73152" marR="73152" marT="27432" marB="27432" anchor="ctr">
                    <a:solidFill>
                      <a:srgbClr val="E8F2F4"/>
                    </a:solidFill>
                  </a:tcPr>
                </a:tc>
                <a:tc>
                  <a:txBody>
                    <a:bodyPr wrap="square"/>
                    <a:lstStyle/>
                    <a:p>
                      <a:pPr algn="ctr"/>
                      <a:r>
                        <a:rPr sz="1200" b="0">
                          <a:solidFill>
                            <a:srgbClr val="13293D"/>
                          </a:solidFill>
                          <a:latin typeface="Arial"/>
                        </a:rPr>
                        <a:t>0.33 m</a:t>
                      </a:r>
                    </a:p>
                  </a:txBody>
                  <a:tcPr marL="73152" marR="73152" marT="27432" marB="27432" anchor="ctr">
                    <a:solidFill>
                      <a:srgbClr val="E8F2F4"/>
                    </a:solidFill>
                  </a:tcPr>
                </a:tc>
                <a:tc>
                  <a:txBody>
                    <a:bodyPr wrap="square"/>
                    <a:lstStyle/>
                    <a:p>
                      <a:pPr algn="ctr"/>
                      <a:r>
                        <a:rPr sz="1200" b="0">
                          <a:solidFill>
                            <a:srgbClr val="13293D"/>
                          </a:solidFill>
                          <a:latin typeface="Arial"/>
                        </a:rPr>
                        <a:t>+0.08 m</a:t>
                      </a:r>
                    </a:p>
                  </a:txBody>
                  <a:tcPr marL="73152" marR="73152" marT="27432" marB="27432" anchor="ctr">
                    <a:solidFill>
                      <a:srgbClr val="E8F2F4"/>
                    </a:solidFill>
                  </a:tcPr>
                </a:tc>
                <a:tc>
                  <a:txBody>
                    <a:bodyPr wrap="square"/>
                    <a:lstStyle/>
                    <a:p>
                      <a:pPr algn="ctr"/>
                      <a:r>
                        <a:rPr sz="1200" b="0">
                          <a:solidFill>
                            <a:srgbClr val="13293D"/>
                          </a:solidFill>
                          <a:latin typeface="Arial"/>
                        </a:rPr>
                        <a:t>−0.01 m</a:t>
                      </a:r>
                    </a:p>
                  </a:txBody>
                  <a:tcPr marL="73152" marR="73152" marT="27432" marB="27432" anchor="ctr">
                    <a:solidFill>
                      <a:srgbClr val="E8F2F4"/>
                    </a:solidFill>
                  </a:tcPr>
                </a:tc>
                <a:tc>
                  <a:txBody>
                    <a:bodyPr wrap="square"/>
                    <a:lstStyle/>
                    <a:p>
                      <a:pPr algn="ctr"/>
                      <a:r>
                        <a:rPr sz="1200" b="1">
                          <a:solidFill>
                            <a:srgbClr val="1E8E5A"/>
                          </a:solidFill>
                          <a:latin typeface="Arial"/>
                        </a:rPr>
                        <a:t>Pass</a:t>
                      </a:r>
                    </a:p>
                  </a:txBody>
                  <a:tcPr marL="73152" marR="73152" marT="27432" marB="27432" anchor="ctr">
                    <a:solidFill>
                      <a:srgbClr val="E8F2F4"/>
                    </a:solidFill>
                  </a:tcPr>
                </a:tc>
              </a:tr>
              <a:tr h="402336">
                <a:tc>
                  <a:txBody>
                    <a:bodyPr wrap="square"/>
                    <a:lstStyle/>
                    <a:p>
                      <a:pPr algn="ctr"/>
                      <a:r>
                        <a:rPr sz="1200" b="0">
                          <a:solidFill>
                            <a:srgbClr val="13293D"/>
                          </a:solidFill>
                          <a:latin typeface="Arial"/>
                        </a:rPr>
                        <a:t>5</a:t>
                      </a:r>
                    </a:p>
                  </a:txBody>
                  <a:tcPr marL="73152" marR="73152" marT="27432" marB="27432" anchor="ctr">
                    <a:solidFill>
                      <a:srgbClr val="FFFFFF"/>
                    </a:solidFill>
                  </a:tcPr>
                </a:tc>
                <a:tc>
                  <a:txBody>
                    <a:bodyPr wrap="square"/>
                    <a:lstStyle/>
                    <a:p>
                      <a:pPr algn="l"/>
                      <a:r>
                        <a:rPr sz="1200" b="0">
                          <a:solidFill>
                            <a:srgbClr val="13293D"/>
                          </a:solidFill>
                          <a:latin typeface="Arial"/>
                        </a:rPr>
                        <a:t>Behind + below</a:t>
                      </a:r>
                    </a:p>
                  </a:txBody>
                  <a:tcPr marL="73152" marR="73152" marT="27432" marB="27432" anchor="ctr">
                    <a:solidFill>
                      <a:srgbClr val="FFFFFF"/>
                    </a:solidFill>
                  </a:tcPr>
                </a:tc>
                <a:tc>
                  <a:txBody>
                    <a:bodyPr wrap="square"/>
                    <a:lstStyle/>
                    <a:p>
                      <a:pPr algn="ctr"/>
                      <a:r>
                        <a:rPr sz="1200" b="0">
                          <a:solidFill>
                            <a:srgbClr val="13293D"/>
                          </a:solidFill>
                          <a:latin typeface="Arial"/>
                        </a:rPr>
                        <a:t>0.35 m</a:t>
                      </a:r>
                    </a:p>
                  </a:txBody>
                  <a:tcPr marL="73152" marR="73152" marT="27432" marB="27432" anchor="ctr">
                    <a:solidFill>
                      <a:srgbClr val="FFFFFF"/>
                    </a:solidFill>
                  </a:tcPr>
                </a:tc>
                <a:tc>
                  <a:txBody>
                    <a:bodyPr wrap="square"/>
                    <a:lstStyle/>
                    <a:p>
                      <a:pPr algn="ctr"/>
                      <a:r>
                        <a:rPr sz="1200" b="0">
                          <a:solidFill>
                            <a:srgbClr val="13293D"/>
                          </a:solidFill>
                          <a:latin typeface="Arial"/>
                        </a:rPr>
                        <a:t>+0.01 m</a:t>
                      </a:r>
                    </a:p>
                  </a:txBody>
                  <a:tcPr marL="73152" marR="73152" marT="27432" marB="27432" anchor="ctr">
                    <a:solidFill>
                      <a:srgbClr val="FFFFFF"/>
                    </a:solidFill>
                  </a:tcPr>
                </a:tc>
                <a:tc>
                  <a:txBody>
                    <a:bodyPr wrap="square"/>
                    <a:lstStyle/>
                    <a:p>
                      <a:pPr algn="ctr"/>
                      <a:r>
                        <a:rPr sz="1200" b="0">
                          <a:solidFill>
                            <a:srgbClr val="13293D"/>
                          </a:solidFill>
                          <a:latin typeface="Arial"/>
                        </a:rPr>
                        <a:t>0.00 m</a:t>
                      </a:r>
                    </a:p>
                  </a:txBody>
                  <a:tcPr marL="73152" marR="73152" marT="27432" marB="27432" anchor="ctr">
                    <a:solidFill>
                      <a:srgbClr val="FFFFFF"/>
                    </a:solidFill>
                  </a:tcPr>
                </a:tc>
                <a:tc>
                  <a:txBody>
                    <a:bodyPr wrap="square"/>
                    <a:lstStyle/>
                    <a:p>
                      <a:pPr algn="ctr"/>
                      <a:r>
                        <a:rPr sz="1200" b="1">
                          <a:solidFill>
                            <a:srgbClr val="1E8E5A"/>
                          </a:solidFill>
                          <a:latin typeface="Arial"/>
                        </a:rPr>
                        <a:t>Pass</a:t>
                      </a:r>
                    </a:p>
                  </a:txBody>
                  <a:tcPr marL="73152" marR="73152" marT="27432" marB="27432" anchor="ctr">
                    <a:solidFill>
                      <a:srgbClr val="FFFFFF"/>
                    </a:solidFill>
                  </a:tcPr>
                </a:tc>
              </a:tr>
              <a:tr h="402336">
                <a:tc>
                  <a:txBody>
                    <a:bodyPr wrap="square"/>
                    <a:lstStyle/>
                    <a:p>
                      <a:pPr algn="ctr"/>
                      <a:r>
                        <a:rPr sz="1200" b="0">
                          <a:solidFill>
                            <a:srgbClr val="13293D"/>
                          </a:solidFill>
                          <a:latin typeface="Arial"/>
                        </a:rPr>
                        <a:t>6</a:t>
                      </a:r>
                    </a:p>
                  </a:txBody>
                  <a:tcPr marL="73152" marR="73152" marT="27432" marB="27432" anchor="ctr">
                    <a:solidFill>
                      <a:srgbClr val="E8F2F4"/>
                    </a:solidFill>
                  </a:tcPr>
                </a:tc>
                <a:tc>
                  <a:txBody>
                    <a:bodyPr wrap="square"/>
                    <a:lstStyle/>
                    <a:p>
                      <a:pPr algn="l"/>
                      <a:r>
                        <a:rPr sz="1200" b="0">
                          <a:solidFill>
                            <a:srgbClr val="13293D"/>
                          </a:solidFill>
                          <a:latin typeface="Arial"/>
                        </a:rPr>
                        <a:t>Moving (real cam)</a:t>
                      </a:r>
                    </a:p>
                  </a:txBody>
                  <a:tcPr marL="73152" marR="73152" marT="27432" marB="27432" anchor="ctr">
                    <a:solidFill>
                      <a:srgbClr val="E8F2F4"/>
                    </a:solidFill>
                  </a:tcPr>
                </a:tc>
                <a:tc>
                  <a:txBody>
                    <a:bodyPr wrap="square"/>
                    <a:lstStyle/>
                    <a:p>
                      <a:pPr algn="ctr"/>
                      <a:r>
                        <a:rPr sz="1200" b="0">
                          <a:solidFill>
                            <a:srgbClr val="13293D"/>
                          </a:solidFill>
                          <a:latin typeface="Arial"/>
                        </a:rPr>
                        <a:t>1.07 m*</a:t>
                      </a:r>
                    </a:p>
                  </a:txBody>
                  <a:tcPr marL="73152" marR="73152" marT="27432" marB="27432" anchor="ctr">
                    <a:solidFill>
                      <a:srgbClr val="E8F2F4"/>
                    </a:solidFill>
                  </a:tcPr>
                </a:tc>
                <a:tc>
                  <a:txBody>
                    <a:bodyPr wrap="square"/>
                    <a:lstStyle/>
                    <a:p>
                      <a:pPr algn="ctr"/>
                      <a:r>
                        <a:rPr sz="1200" b="0">
                          <a:solidFill>
                            <a:srgbClr val="13293D"/>
                          </a:solidFill>
                          <a:latin typeface="Arial"/>
                        </a:rPr>
                        <a:t>−0.01 m</a:t>
                      </a:r>
                    </a:p>
                  </a:txBody>
                  <a:tcPr marL="73152" marR="73152" marT="27432" marB="27432" anchor="ctr">
                    <a:solidFill>
                      <a:srgbClr val="E8F2F4"/>
                    </a:solidFill>
                  </a:tcPr>
                </a:tc>
                <a:tc>
                  <a:txBody>
                    <a:bodyPr wrap="square"/>
                    <a:lstStyle/>
                    <a:p>
                      <a:pPr algn="ctr"/>
                      <a:r>
                        <a:rPr sz="1200" b="0">
                          <a:solidFill>
                            <a:srgbClr val="13293D"/>
                          </a:solidFill>
                          <a:latin typeface="Arial"/>
                        </a:rPr>
                        <a:t>−0.28 m</a:t>
                      </a:r>
                    </a:p>
                  </a:txBody>
                  <a:tcPr marL="73152" marR="73152" marT="27432" marB="27432" anchor="ctr">
                    <a:solidFill>
                      <a:srgbClr val="E8F2F4"/>
                    </a:solidFill>
                  </a:tcPr>
                </a:tc>
                <a:tc>
                  <a:txBody>
                    <a:bodyPr wrap="square"/>
                    <a:lstStyle/>
                    <a:p>
                      <a:pPr algn="ctr"/>
                      <a:r>
                        <a:rPr sz="1200" b="1">
                          <a:solidFill>
                            <a:srgbClr val="1E8E5A"/>
                          </a:solidFill>
                          <a:latin typeface="Arial"/>
                        </a:rPr>
                        <a:t>Pass</a:t>
                      </a:r>
                    </a:p>
                  </a:txBody>
                  <a:tcPr marL="73152" marR="73152" marT="27432" marB="27432" anchor="ctr">
                    <a:solidFill>
                      <a:srgbClr val="E8F2F4"/>
                    </a:solidFill>
                  </a:tcPr>
                </a:tc>
              </a:tr>
              <a:tr h="402336">
                <a:tc>
                  <a:txBody>
                    <a:bodyPr wrap="square"/>
                    <a:lstStyle/>
                    <a:p>
                      <a:pPr algn="ctr"/>
                      <a:r>
                        <a:rPr sz="1200" b="0">
                          <a:solidFill>
                            <a:srgbClr val="13293D"/>
                          </a:solidFill>
                          <a:latin typeface="Arial"/>
                        </a:rPr>
                        <a:t>7</a:t>
                      </a:r>
                    </a:p>
                  </a:txBody>
                  <a:tcPr marL="73152" marR="73152" marT="27432" marB="27432" anchor="ctr">
                    <a:solidFill>
                      <a:srgbClr val="FFFFFF"/>
                    </a:solidFill>
                  </a:tcPr>
                </a:tc>
                <a:tc>
                  <a:txBody>
                    <a:bodyPr wrap="square"/>
                    <a:lstStyle/>
                    <a:p>
                      <a:pPr algn="l"/>
                      <a:r>
                        <a:rPr sz="1200" b="0">
                          <a:solidFill>
                            <a:srgbClr val="13293D"/>
                          </a:solidFill>
                          <a:latin typeface="Arial"/>
                        </a:rPr>
                        <a:t>No target</a:t>
                      </a:r>
                    </a:p>
                  </a:txBody>
                  <a:tcPr marL="73152" marR="73152" marT="27432" marB="27432" anchor="ctr">
                    <a:solidFill>
                      <a:srgbClr val="FFFFFF"/>
                    </a:solidFill>
                  </a:tcPr>
                </a:tc>
                <a:tc gridSpan="3">
                  <a:txBody>
                    <a:bodyPr wrap="square"/>
                    <a:lstStyle/>
                    <a:p>
                      <a:pPr algn="ctr"/>
                      <a:r>
                        <a:rPr sz="1200" b="0">
                          <a:solidFill>
                            <a:srgbClr val="13293D"/>
                          </a:solidFill>
                          <a:latin typeface="Arial"/>
                        </a:rPr>
                        <a:t>380° search, surfaced safely</a:t>
                      </a:r>
                    </a:p>
                  </a:txBody>
                  <a:tcPr marL="73152" marR="73152" marT="27432" marB="27432" anchor="ctr">
                    <a:solidFill>
                      <a:srgbClr val="FFFFFF"/>
                    </a:solidFill>
                  </a:tcPr>
                </a:tc>
                <a:tc hMerge="1">
                  <a:txBody>
                    <a:bodyPr wrap="square"/>
                    <a:lstStyle/>
                    <a:p>
                      <a:pPr algn="ctr"/>
                      <a:r>
                        <a:rPr sz="1200" b="0">
                          <a:solidFill>
                            <a:srgbClr val="13293D"/>
                          </a:solidFill>
                          <a:latin typeface="Arial"/>
                        </a:rPr>
                        <a:t/>
                      </a:r>
                    </a:p>
                  </a:txBody>
                  <a:tcPr marL="73152" marR="73152" marT="27432" marB="27432" anchor="ctr">
                    <a:solidFill>
                      <a:srgbClr val="FFFFFF"/>
                    </a:solidFill>
                  </a:tcPr>
                </a:tc>
                <a:tc hMerge="1">
                  <a:txBody>
                    <a:bodyPr wrap="square"/>
                    <a:lstStyle/>
                    <a:p>
                      <a:pPr algn="ctr"/>
                      <a:r>
                        <a:rPr sz="1200" b="0">
                          <a:solidFill>
                            <a:srgbClr val="13293D"/>
                          </a:solidFill>
                          <a:latin typeface="Arial"/>
                        </a:rPr>
                        <a:t/>
                      </a:r>
                    </a:p>
                  </a:txBody>
                  <a:tcPr marL="73152" marR="73152" marT="27432" marB="27432" anchor="ctr">
                    <a:solidFill>
                      <a:srgbClr val="FFFFFF"/>
                    </a:solidFill>
                  </a:tcPr>
                </a:tc>
                <a:tc>
                  <a:txBody>
                    <a:bodyPr wrap="square"/>
                    <a:lstStyle/>
                    <a:p>
                      <a:pPr algn="ctr"/>
                      <a:r>
                        <a:rPr sz="1200" b="1">
                          <a:solidFill>
                            <a:srgbClr val="1E8E5A"/>
                          </a:solidFill>
                          <a:latin typeface="Arial"/>
                        </a:rPr>
                        <a:t>Pass</a:t>
                      </a:r>
                    </a:p>
                  </a:txBody>
                  <a:tcPr marL="73152" marR="73152" marT="27432" marB="27432" anchor="ctr">
                    <a:solidFill>
                      <a:srgbClr val="FFFFFF"/>
                    </a:solidFill>
                  </a:tcPr>
                </a:tc>
              </a:tr>
            </a:tbl>
          </a:graphicData>
        </a:graphic>
      </p:graphicFrame>
      <p:sp>
        <p:nvSpPr>
          <p:cNvPr id="17" name="TextBox 16"/>
          <p:cNvSpPr txBox="1"/>
          <p:nvPr/>
        </p:nvSpPr>
        <p:spPr>
          <a:xfrm>
            <a:off x="548640" y="6089904"/>
            <a:ext cx="6492240" cy="274320"/>
          </a:xfrm>
          <a:prstGeom prst="rect">
            <a:avLst/>
          </a:prstGeom>
          <a:noFill/>
        </p:spPr>
        <p:txBody>
          <a:bodyPr wrap="square" lIns="0" rIns="0" tIns="0" bIns="0" anchor="t">
            <a:spAutoFit/>
          </a:bodyPr>
          <a:lstStyle/>
          <a:p>
            <a:pPr algn="l"/>
            <a:r>
              <a:rPr sz="1000" b="0" i="0">
                <a:solidFill>
                  <a:srgbClr val="5B6B78"/>
                </a:solidFill>
                <a:latin typeface="Arial"/>
              </a:rPr>
              <a:t>* case 6 stops 1.0 m from the moving target by design · HSV-detector and no-detector checks also pass</a:t>
            </a:r>
          </a:p>
        </p:txBody>
      </p:sp>
      <p:graphicFrame>
        <p:nvGraphicFramePr>
          <p:cNvPr id="18" name="Approach time chart"/>
          <p:cNvGraphicFramePr>
            <a:graphicFrameLocks noGrp="1"/>
          </p:cNvGraphicFramePr>
          <p:nvPr/>
        </p:nvGraphicFramePr>
        <p:xfrm>
          <a:off x="7269480" y="2743200"/>
          <a:ext cx="4370832" cy="3566160"/>
        </p:xfrm>
        <a:graphic>
          <a:graphicData uri="http://schemas.openxmlformats.org/drawingml/2006/chart">
            <c:chart xmlns:c="http://schemas.openxmlformats.org/drawingml/2006/chart" r:id="rId2"/>
          </a:graphicData>
        </a:graphic>
      </p:graphicFrame>
      <p:sp>
        <p:nvSpPr>
          <p:cNvPr id="19" name="TextBox 18"/>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5B6B78"/>
                </a:solidFill>
                <a:latin typeface="Arial"/>
              </a:rPr>
              <a:t>Kyushu Project  ·  Autonomous underwater ROV</a:t>
            </a:r>
          </a:p>
        </p:txBody>
      </p:sp>
      <p:sp>
        <p:nvSpPr>
          <p:cNvPr id="20" name="TextBox 19"/>
          <p:cNvSpPr txBox="1"/>
          <p:nvPr/>
        </p:nvSpPr>
        <p:spPr>
          <a:xfrm>
            <a:off x="10725912" y="6400800"/>
            <a:ext cx="914400" cy="274320"/>
          </a:xfrm>
          <a:prstGeom prst="rect">
            <a:avLst/>
          </a:prstGeom>
          <a:noFill/>
        </p:spPr>
        <p:txBody>
          <a:bodyPr wrap="square" lIns="0" rIns="0" tIns="0" bIns="0" anchor="t">
            <a:spAutoFit/>
          </a:bodyPr>
          <a:lstStyle/>
          <a:p>
            <a:pPr algn="r"/>
            <a:r>
              <a:rPr sz="1000" b="0" i="0">
                <a:solidFill>
                  <a:srgbClr val="5B6B78"/>
                </a:solidFill>
                <a:latin typeface="Arial"/>
              </a:rP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itle 1"/>
          <p:cNvSpPr>
            <a:spLocks noGrp="1"/>
          </p:cNvSpPr>
          <p:nvPr>
            <p:ph type="title"/>
          </p:nvPr>
        </p:nvSpPr>
        <p:spPr>
          <a:xfrm>
            <a:off x="548640" y="384048"/>
            <a:ext cx="11064240" cy="685800"/>
          </a:xfrm>
        </p:spPr>
        <p:txBody>
          <a:bodyPr lIns="0" rIns="0" tIns="0" bIns="0" anchor="t" wrap="square"/>
          <a:lstStyle/>
          <a:p>
            <a:pPr algn="l"/>
            <a:r>
              <a:rPr sz="3200" b="1">
                <a:solidFill>
                  <a:srgbClr val="FFFFFF"/>
                </a:solidFill>
                <a:latin typeface="Arial"/>
              </a:rPr>
              <a:t>Simulation demonstrations</a:t>
            </a:r>
          </a:p>
        </p:txBody>
      </p:sp>
      <p:sp>
        <p:nvSpPr>
          <p:cNvPr id="3" name="TextBox 2"/>
          <p:cNvSpPr txBox="1"/>
          <p:nvPr/>
        </p:nvSpPr>
        <p:spPr>
          <a:xfrm>
            <a:off x="548640" y="1078992"/>
            <a:ext cx="11064240" cy="365760"/>
          </a:xfrm>
          <a:prstGeom prst="rect">
            <a:avLst/>
          </a:prstGeom>
          <a:noFill/>
        </p:spPr>
        <p:txBody>
          <a:bodyPr wrap="square" lIns="0" rIns="0" tIns="0" bIns="0" anchor="t">
            <a:spAutoFit/>
          </a:bodyPr>
          <a:lstStyle/>
          <a:p>
            <a:pPr algn="l"/>
            <a:r>
              <a:rPr sz="1500" b="0" i="0">
                <a:solidFill>
                  <a:srgbClr val="5FC9C2"/>
                </a:solidFill>
                <a:latin typeface="Arial"/>
              </a:rPr>
              <a:t>Full missions in Stonefish with the YOLO pipeline: search, align, approach, stop, back off, surface</a:t>
            </a:r>
          </a:p>
        </p:txBody>
      </p:sp>
      <p:grpSp>
        <p:nvGrpSpPr>
          <p:cNvPr id="4" name="VIDEO 1 PLACEHOLDER - delete and insert video here"/>
          <p:cNvGrpSpPr/>
          <p:nvPr/>
        </p:nvGrpSpPr>
        <p:grpSpPr>
          <a:xfrm>
            <a:off x="548640" y="1645920"/>
            <a:ext cx="5440680" cy="3063240"/>
            <a:chOff x="548640" y="1645920"/>
            <a:chExt cx="5440680" cy="3063240"/>
          </a:xfrm>
        </p:grpSpPr>
        <p:sp>
          <p:nvSpPr>
            <p:cNvPr id="5" name="Rounded Rectangle 4"/>
            <p:cNvSpPr/>
            <p:nvPr/>
          </p:nvSpPr>
          <p:spPr>
            <a:xfrm>
              <a:off x="548640" y="1645920"/>
              <a:ext cx="5440680" cy="3063240"/>
            </a:xfrm>
            <a:prstGeom prst="roundRect">
              <a:avLst>
                <a:gd name="adj" fmla="val 4000"/>
              </a:avLst>
            </a:prstGeom>
            <a:solidFill>
              <a:srgbClr val="071626"/>
            </a:solidFill>
            <a:ln w="19050">
              <a:solidFill>
                <a:srgbClr val="5FC9C2"/>
              </a:solidFill>
              <a:prstDash val="dash"/>
            </a:ln>
          </p:spPr>
          <p:txBody>
            <a:bodyPr rtlCol="0" anchor="ctr"/>
            <a:lstStyle/>
            <a:p>
              <a:pPr algn="ctr"/>
            </a:p>
          </p:txBody>
        </p:sp>
        <p:sp>
          <p:nvSpPr>
            <p:cNvPr id="6" name="Oval 5"/>
            <p:cNvSpPr/>
            <p:nvPr/>
          </p:nvSpPr>
          <p:spPr>
            <a:xfrm>
              <a:off x="2834640" y="2423160"/>
              <a:ext cx="868680" cy="868680"/>
            </a:xfrm>
            <a:prstGeom prst="ellipse">
              <a:avLst/>
            </a:prstGeom>
            <a:solidFill>
              <a:srgbClr val="F2C230"/>
            </a:solidFill>
            <a:ln>
              <a:noFill/>
            </a:ln>
          </p:spPr>
          <p:txBody>
            <a:bodyPr rtlCol="0" anchor="ctr"/>
            <a:lstStyle/>
            <a:p>
              <a:pPr algn="ctr"/>
            </a:p>
          </p:txBody>
        </p:sp>
        <p:sp>
          <p:nvSpPr>
            <p:cNvPr id="7" name="Isosceles Triangle 6"/>
            <p:cNvSpPr/>
            <p:nvPr/>
          </p:nvSpPr>
          <p:spPr>
            <a:xfrm rot="5400000">
              <a:off x="3136392" y="2651760"/>
              <a:ext cx="384048" cy="411480"/>
            </a:xfrm>
            <a:prstGeom prst="triangle">
              <a:avLst/>
            </a:prstGeom>
            <a:solidFill>
              <a:srgbClr val="0B1F33"/>
            </a:solidFill>
            <a:ln>
              <a:noFill/>
            </a:ln>
          </p:spPr>
          <p:txBody>
            <a:bodyPr rtlCol="0" anchor="ctr"/>
            <a:lstStyle/>
            <a:p>
              <a:pPr algn="ctr"/>
            </a:p>
          </p:txBody>
        </p:sp>
        <p:sp>
          <p:nvSpPr>
            <p:cNvPr id="8" name="TextBox 7"/>
            <p:cNvSpPr txBox="1"/>
            <p:nvPr/>
          </p:nvSpPr>
          <p:spPr>
            <a:xfrm>
              <a:off x="822959" y="3474720"/>
              <a:ext cx="4892040" cy="365760"/>
            </a:xfrm>
            <a:prstGeom prst="rect">
              <a:avLst/>
            </a:prstGeom>
            <a:noFill/>
          </p:spPr>
          <p:txBody>
            <a:bodyPr wrap="square" lIns="0" rIns="0" tIns="0" bIns="0">
              <a:spAutoFit/>
            </a:bodyPr>
            <a:lstStyle/>
            <a:p>
              <a:pPr algn="ctr"/>
              <a:r>
                <a:rPr sz="1800" b="1">
                  <a:solidFill>
                    <a:srgbClr val="FFFFFF"/>
                  </a:solidFill>
                  <a:latin typeface="Arial"/>
                </a:rPr>
                <a:t>Video 1</a:t>
              </a:r>
            </a:p>
          </p:txBody>
        </p:sp>
        <p:sp>
          <p:nvSpPr>
            <p:cNvPr id="9" name="TextBox 8"/>
            <p:cNvSpPr txBox="1"/>
            <p:nvPr/>
          </p:nvSpPr>
          <p:spPr>
            <a:xfrm>
              <a:off x="822959" y="3858768"/>
              <a:ext cx="4892040" cy="365760"/>
            </a:xfrm>
            <a:prstGeom prst="rect">
              <a:avLst/>
            </a:prstGeom>
            <a:noFill/>
          </p:spPr>
          <p:txBody>
            <a:bodyPr wrap="square" lIns="0" rIns="0" tIns="0" bIns="0">
              <a:spAutoFit/>
            </a:bodyPr>
            <a:lstStyle/>
            <a:p>
              <a:pPr algn="ctr"/>
              <a:r>
                <a:rPr sz="1200" b="0">
                  <a:solidFill>
                    <a:srgbClr val="5FC9C2"/>
                  </a:solidFill>
                  <a:latin typeface="Arial"/>
                </a:rPr>
                <a:t>Insert the Case 1 recording here</a:t>
              </a:r>
            </a:p>
          </p:txBody>
        </p:sp>
      </p:grpSp>
      <p:grpSp>
        <p:nvGrpSpPr>
          <p:cNvPr id="10" name="VIDEO 2 PLACEHOLDER - delete and insert video here"/>
          <p:cNvGrpSpPr/>
          <p:nvPr/>
        </p:nvGrpSpPr>
        <p:grpSpPr>
          <a:xfrm>
            <a:off x="6199632" y="1645920"/>
            <a:ext cx="5440680" cy="3063240"/>
            <a:chOff x="6199632" y="1645920"/>
            <a:chExt cx="5440680" cy="3063240"/>
          </a:xfrm>
        </p:grpSpPr>
        <p:sp>
          <p:nvSpPr>
            <p:cNvPr id="11" name="Rounded Rectangle 10"/>
            <p:cNvSpPr/>
            <p:nvPr/>
          </p:nvSpPr>
          <p:spPr>
            <a:xfrm>
              <a:off x="6199632" y="1645920"/>
              <a:ext cx="5440680" cy="3063240"/>
            </a:xfrm>
            <a:prstGeom prst="roundRect">
              <a:avLst>
                <a:gd name="adj" fmla="val 4000"/>
              </a:avLst>
            </a:prstGeom>
            <a:solidFill>
              <a:srgbClr val="071626"/>
            </a:solidFill>
            <a:ln w="19050">
              <a:solidFill>
                <a:srgbClr val="5FC9C2"/>
              </a:solidFill>
              <a:prstDash val="dash"/>
            </a:ln>
          </p:spPr>
          <p:txBody>
            <a:bodyPr rtlCol="0" anchor="ctr"/>
            <a:lstStyle/>
            <a:p>
              <a:pPr algn="ctr"/>
            </a:p>
          </p:txBody>
        </p:sp>
        <p:sp>
          <p:nvSpPr>
            <p:cNvPr id="12" name="Oval 11"/>
            <p:cNvSpPr/>
            <p:nvPr/>
          </p:nvSpPr>
          <p:spPr>
            <a:xfrm>
              <a:off x="8485632" y="2423160"/>
              <a:ext cx="868680" cy="868680"/>
            </a:xfrm>
            <a:prstGeom prst="ellipse">
              <a:avLst/>
            </a:prstGeom>
            <a:solidFill>
              <a:srgbClr val="F2C230"/>
            </a:solidFill>
            <a:ln>
              <a:noFill/>
            </a:ln>
          </p:spPr>
          <p:txBody>
            <a:bodyPr rtlCol="0" anchor="ctr"/>
            <a:lstStyle/>
            <a:p>
              <a:pPr algn="ctr"/>
            </a:p>
          </p:txBody>
        </p:sp>
        <p:sp>
          <p:nvSpPr>
            <p:cNvPr id="13" name="Isosceles Triangle 12"/>
            <p:cNvSpPr/>
            <p:nvPr/>
          </p:nvSpPr>
          <p:spPr>
            <a:xfrm rot="5400000">
              <a:off x="8787384" y="2651760"/>
              <a:ext cx="384048" cy="411480"/>
            </a:xfrm>
            <a:prstGeom prst="triangle">
              <a:avLst/>
            </a:prstGeom>
            <a:solidFill>
              <a:srgbClr val="0B1F33"/>
            </a:solidFill>
            <a:ln>
              <a:noFill/>
            </a:ln>
          </p:spPr>
          <p:txBody>
            <a:bodyPr rtlCol="0" anchor="ctr"/>
            <a:lstStyle/>
            <a:p>
              <a:pPr algn="ctr"/>
            </a:p>
          </p:txBody>
        </p:sp>
        <p:sp>
          <p:nvSpPr>
            <p:cNvPr id="14" name="TextBox 13"/>
            <p:cNvSpPr txBox="1"/>
            <p:nvPr/>
          </p:nvSpPr>
          <p:spPr>
            <a:xfrm>
              <a:off x="6473952" y="3474720"/>
              <a:ext cx="4892040" cy="365760"/>
            </a:xfrm>
            <a:prstGeom prst="rect">
              <a:avLst/>
            </a:prstGeom>
            <a:noFill/>
          </p:spPr>
          <p:txBody>
            <a:bodyPr wrap="square" lIns="0" rIns="0" tIns="0" bIns="0">
              <a:spAutoFit/>
            </a:bodyPr>
            <a:lstStyle/>
            <a:p>
              <a:pPr algn="ctr"/>
              <a:r>
                <a:rPr sz="1800" b="1">
                  <a:solidFill>
                    <a:srgbClr val="FFFFFF"/>
                  </a:solidFill>
                  <a:latin typeface="Arial"/>
                </a:rPr>
                <a:t>Video 2</a:t>
              </a:r>
            </a:p>
          </p:txBody>
        </p:sp>
        <p:sp>
          <p:nvSpPr>
            <p:cNvPr id="15" name="TextBox 14"/>
            <p:cNvSpPr txBox="1"/>
            <p:nvPr/>
          </p:nvSpPr>
          <p:spPr>
            <a:xfrm>
              <a:off x="6473952" y="3858768"/>
              <a:ext cx="4892040" cy="365760"/>
            </a:xfrm>
            <a:prstGeom prst="rect">
              <a:avLst/>
            </a:prstGeom>
            <a:noFill/>
          </p:spPr>
          <p:txBody>
            <a:bodyPr wrap="square" lIns="0" rIns="0" tIns="0" bIns="0">
              <a:spAutoFit/>
            </a:bodyPr>
            <a:lstStyle/>
            <a:p>
              <a:pPr algn="ctr"/>
              <a:r>
                <a:rPr sz="1200" b="0">
                  <a:solidFill>
                    <a:srgbClr val="5FC9C2"/>
                  </a:solidFill>
                  <a:latin typeface="Arial"/>
                </a:rPr>
                <a:t>Insert the Case 5 recording here</a:t>
              </a:r>
            </a:p>
          </p:txBody>
        </p:sp>
      </p:grpSp>
      <p:sp>
        <p:nvSpPr>
          <p:cNvPr id="16" name="Video caption"/>
          <p:cNvSpPr txBox="1"/>
          <p:nvPr/>
        </p:nvSpPr>
        <p:spPr>
          <a:xfrm>
            <a:off x="548640" y="4846320"/>
            <a:ext cx="5440680" cy="320040"/>
          </a:xfrm>
          <a:prstGeom prst="rect">
            <a:avLst/>
          </a:prstGeom>
          <a:noFill/>
        </p:spPr>
        <p:txBody>
          <a:bodyPr wrap="square" lIns="0" rIns="0" tIns="0" bIns="0" anchor="t">
            <a:spAutoFit/>
          </a:bodyPr>
          <a:lstStyle/>
          <a:p>
            <a:pPr algn="l"/>
            <a:r>
              <a:rPr sz="1600" b="1" i="0">
                <a:solidFill>
                  <a:srgbClr val="FFFFFF"/>
                </a:solidFill>
                <a:latin typeface="Arial"/>
              </a:rPr>
              <a:t>Case 1 · Target in front, 8 m</a:t>
            </a:r>
          </a:p>
        </p:txBody>
      </p:sp>
      <p:sp>
        <p:nvSpPr>
          <p:cNvPr id="17" name="Timeline event"/>
          <p:cNvSpPr/>
          <p:nvPr/>
        </p:nvSpPr>
        <p:spPr>
          <a:xfrm>
            <a:off x="548640" y="5257800"/>
            <a:ext cx="1291590" cy="914400"/>
          </a:xfrm>
          <a:prstGeom prst="roundRect">
            <a:avLst>
              <a:gd name="adj" fmla="val 8000"/>
            </a:avLst>
          </a:prstGeom>
          <a:solidFill>
            <a:srgbClr val="132E48"/>
          </a:solidFill>
          <a:ln>
            <a:noFill/>
          </a:ln>
        </p:spPr>
        <p:txBody>
          <a:bodyPr rtlCol="0" anchor="ctr"/>
          <a:lstStyle/>
          <a:p/>
        </p:txBody>
      </p:sp>
      <p:sp>
        <p:nvSpPr>
          <p:cNvPr id="18" name="TextBox 17"/>
          <p:cNvSpPr txBox="1"/>
          <p:nvPr/>
        </p:nvSpPr>
        <p:spPr>
          <a:xfrm>
            <a:off x="658368" y="5330952"/>
            <a:ext cx="1108710" cy="320040"/>
          </a:xfrm>
          <a:prstGeom prst="rect">
            <a:avLst/>
          </a:prstGeom>
          <a:noFill/>
        </p:spPr>
        <p:txBody>
          <a:bodyPr wrap="square" lIns="0" rIns="0" tIns="0" bIns="0" anchor="t">
            <a:spAutoFit/>
          </a:bodyPr>
          <a:lstStyle/>
          <a:p>
            <a:pPr algn="l"/>
            <a:r>
              <a:rPr sz="1500" b="1" i="0">
                <a:solidFill>
                  <a:srgbClr val="F2C230"/>
                </a:solidFill>
                <a:latin typeface="Arial"/>
              </a:rPr>
              <a:t>23 s</a:t>
            </a:r>
          </a:p>
        </p:txBody>
      </p:sp>
      <p:sp>
        <p:nvSpPr>
          <p:cNvPr id="19" name="TextBox 18"/>
          <p:cNvSpPr txBox="1"/>
          <p:nvPr/>
        </p:nvSpPr>
        <p:spPr>
          <a:xfrm>
            <a:off x="658368" y="5669280"/>
            <a:ext cx="1108710" cy="457200"/>
          </a:xfrm>
          <a:prstGeom prst="rect">
            <a:avLst/>
          </a:prstGeom>
          <a:noFill/>
        </p:spPr>
        <p:txBody>
          <a:bodyPr wrap="square" lIns="0" rIns="0" tIns="0" bIns="0" anchor="t">
            <a:spAutoFit/>
          </a:bodyPr>
          <a:lstStyle/>
          <a:p>
            <a:pPr algn="l"/>
            <a:r>
              <a:rPr sz="1100" b="0" i="0">
                <a:solidFill>
                  <a:srgbClr val="FFFFFF"/>
                </a:solidFill>
                <a:latin typeface="Arial"/>
              </a:rPr>
              <a:t>aligned</a:t>
            </a:r>
          </a:p>
        </p:txBody>
      </p:sp>
      <p:sp>
        <p:nvSpPr>
          <p:cNvPr id="20" name="Timeline event"/>
          <p:cNvSpPr/>
          <p:nvPr/>
        </p:nvSpPr>
        <p:spPr>
          <a:xfrm>
            <a:off x="1931670" y="5257800"/>
            <a:ext cx="1291590" cy="914400"/>
          </a:xfrm>
          <a:prstGeom prst="roundRect">
            <a:avLst>
              <a:gd name="adj" fmla="val 8000"/>
            </a:avLst>
          </a:prstGeom>
          <a:solidFill>
            <a:srgbClr val="132E48"/>
          </a:solidFill>
          <a:ln>
            <a:noFill/>
          </a:ln>
        </p:spPr>
        <p:txBody>
          <a:bodyPr rtlCol="0" anchor="ctr"/>
          <a:lstStyle/>
          <a:p/>
        </p:txBody>
      </p:sp>
      <p:sp>
        <p:nvSpPr>
          <p:cNvPr id="21" name="TextBox 20"/>
          <p:cNvSpPr txBox="1"/>
          <p:nvPr/>
        </p:nvSpPr>
        <p:spPr>
          <a:xfrm>
            <a:off x="2041398" y="5330952"/>
            <a:ext cx="1108710" cy="320040"/>
          </a:xfrm>
          <a:prstGeom prst="rect">
            <a:avLst/>
          </a:prstGeom>
          <a:noFill/>
        </p:spPr>
        <p:txBody>
          <a:bodyPr wrap="square" lIns="0" rIns="0" tIns="0" bIns="0" anchor="t">
            <a:spAutoFit/>
          </a:bodyPr>
          <a:lstStyle/>
          <a:p>
            <a:pPr algn="l"/>
            <a:r>
              <a:rPr sz="1500" b="1" i="0">
                <a:solidFill>
                  <a:srgbClr val="F2C230"/>
                </a:solidFill>
                <a:latin typeface="Arial"/>
              </a:rPr>
              <a:t>65 s</a:t>
            </a:r>
          </a:p>
        </p:txBody>
      </p:sp>
      <p:sp>
        <p:nvSpPr>
          <p:cNvPr id="22" name="TextBox 21"/>
          <p:cNvSpPr txBox="1"/>
          <p:nvPr/>
        </p:nvSpPr>
        <p:spPr>
          <a:xfrm>
            <a:off x="2041398" y="5669280"/>
            <a:ext cx="1108710" cy="457200"/>
          </a:xfrm>
          <a:prstGeom prst="rect">
            <a:avLst/>
          </a:prstGeom>
          <a:noFill/>
        </p:spPr>
        <p:txBody>
          <a:bodyPr wrap="square" lIns="0" rIns="0" tIns="0" bIns="0" anchor="t">
            <a:spAutoFit/>
          </a:bodyPr>
          <a:lstStyle/>
          <a:p>
            <a:pPr algn="l"/>
            <a:r>
              <a:rPr sz="1100" b="0" i="0">
                <a:solidFill>
                  <a:srgbClr val="FFFFFF"/>
                </a:solidFill>
                <a:latin typeface="Arial"/>
              </a:rPr>
              <a:t>stops 0.37 m from target</a:t>
            </a:r>
          </a:p>
        </p:txBody>
      </p:sp>
      <p:sp>
        <p:nvSpPr>
          <p:cNvPr id="23" name="Timeline event"/>
          <p:cNvSpPr/>
          <p:nvPr/>
        </p:nvSpPr>
        <p:spPr>
          <a:xfrm>
            <a:off x="3314700" y="5257800"/>
            <a:ext cx="1291590" cy="914400"/>
          </a:xfrm>
          <a:prstGeom prst="roundRect">
            <a:avLst>
              <a:gd name="adj" fmla="val 8000"/>
            </a:avLst>
          </a:prstGeom>
          <a:solidFill>
            <a:srgbClr val="132E48"/>
          </a:solidFill>
          <a:ln>
            <a:noFill/>
          </a:ln>
        </p:spPr>
        <p:txBody>
          <a:bodyPr rtlCol="0" anchor="ctr"/>
          <a:lstStyle/>
          <a:p/>
        </p:txBody>
      </p:sp>
      <p:sp>
        <p:nvSpPr>
          <p:cNvPr id="24" name="TextBox 23"/>
          <p:cNvSpPr txBox="1"/>
          <p:nvPr/>
        </p:nvSpPr>
        <p:spPr>
          <a:xfrm>
            <a:off x="3424428" y="5330952"/>
            <a:ext cx="1108710" cy="320040"/>
          </a:xfrm>
          <a:prstGeom prst="rect">
            <a:avLst/>
          </a:prstGeom>
          <a:noFill/>
        </p:spPr>
        <p:txBody>
          <a:bodyPr wrap="square" lIns="0" rIns="0" tIns="0" bIns="0" anchor="t">
            <a:spAutoFit/>
          </a:bodyPr>
          <a:lstStyle/>
          <a:p>
            <a:pPr algn="l"/>
            <a:r>
              <a:rPr sz="1500" b="1" i="0">
                <a:solidFill>
                  <a:srgbClr val="F2C230"/>
                </a:solidFill>
                <a:latin typeface="Arial"/>
              </a:rPr>
              <a:t>77 s</a:t>
            </a:r>
          </a:p>
        </p:txBody>
      </p:sp>
      <p:sp>
        <p:nvSpPr>
          <p:cNvPr id="25" name="TextBox 24"/>
          <p:cNvSpPr txBox="1"/>
          <p:nvPr/>
        </p:nvSpPr>
        <p:spPr>
          <a:xfrm>
            <a:off x="3424428" y="5669280"/>
            <a:ext cx="1108710" cy="457200"/>
          </a:xfrm>
          <a:prstGeom prst="rect">
            <a:avLst/>
          </a:prstGeom>
          <a:noFill/>
        </p:spPr>
        <p:txBody>
          <a:bodyPr wrap="square" lIns="0" rIns="0" tIns="0" bIns="0" anchor="t">
            <a:spAutoFit/>
          </a:bodyPr>
          <a:lstStyle/>
          <a:p>
            <a:pPr algn="l"/>
            <a:r>
              <a:rPr sz="1100" b="0" i="0">
                <a:solidFill>
                  <a:srgbClr val="FFFFFF"/>
                </a:solidFill>
                <a:latin typeface="Arial"/>
              </a:rPr>
              <a:t>backed off</a:t>
            </a:r>
          </a:p>
        </p:txBody>
      </p:sp>
      <p:sp>
        <p:nvSpPr>
          <p:cNvPr id="26" name="Timeline event"/>
          <p:cNvSpPr/>
          <p:nvPr/>
        </p:nvSpPr>
        <p:spPr>
          <a:xfrm>
            <a:off x="4697730" y="5257800"/>
            <a:ext cx="1291590" cy="914400"/>
          </a:xfrm>
          <a:prstGeom prst="roundRect">
            <a:avLst>
              <a:gd name="adj" fmla="val 8000"/>
            </a:avLst>
          </a:prstGeom>
          <a:solidFill>
            <a:srgbClr val="132E48"/>
          </a:solidFill>
          <a:ln>
            <a:noFill/>
          </a:ln>
        </p:spPr>
        <p:txBody>
          <a:bodyPr rtlCol="0" anchor="ctr"/>
          <a:lstStyle/>
          <a:p/>
        </p:txBody>
      </p:sp>
      <p:sp>
        <p:nvSpPr>
          <p:cNvPr id="27" name="TextBox 26"/>
          <p:cNvSpPr txBox="1"/>
          <p:nvPr/>
        </p:nvSpPr>
        <p:spPr>
          <a:xfrm>
            <a:off x="4807458" y="5330952"/>
            <a:ext cx="1108710" cy="320040"/>
          </a:xfrm>
          <a:prstGeom prst="rect">
            <a:avLst/>
          </a:prstGeom>
          <a:noFill/>
        </p:spPr>
        <p:txBody>
          <a:bodyPr wrap="square" lIns="0" rIns="0" tIns="0" bIns="0" anchor="t">
            <a:spAutoFit/>
          </a:bodyPr>
          <a:lstStyle/>
          <a:p>
            <a:pPr algn="l"/>
            <a:r>
              <a:rPr sz="1500" b="1" i="0">
                <a:solidFill>
                  <a:srgbClr val="F2C230"/>
                </a:solidFill>
                <a:latin typeface="Arial"/>
              </a:rPr>
              <a:t>129 s</a:t>
            </a:r>
          </a:p>
        </p:txBody>
      </p:sp>
      <p:sp>
        <p:nvSpPr>
          <p:cNvPr id="28" name="TextBox 27"/>
          <p:cNvSpPr txBox="1"/>
          <p:nvPr/>
        </p:nvSpPr>
        <p:spPr>
          <a:xfrm>
            <a:off x="4807458" y="5669280"/>
            <a:ext cx="1108710" cy="457200"/>
          </a:xfrm>
          <a:prstGeom prst="rect">
            <a:avLst/>
          </a:prstGeom>
          <a:noFill/>
        </p:spPr>
        <p:txBody>
          <a:bodyPr wrap="square" lIns="0" rIns="0" tIns="0" bIns="0" anchor="t">
            <a:spAutoFit/>
          </a:bodyPr>
          <a:lstStyle/>
          <a:p>
            <a:pPr algn="l"/>
            <a:r>
              <a:rPr sz="1100" b="0" i="0">
                <a:solidFill>
                  <a:srgbClr val="FFFFFF"/>
                </a:solidFill>
                <a:latin typeface="Arial"/>
              </a:rPr>
              <a:t>surfaced</a:t>
            </a:r>
          </a:p>
        </p:txBody>
      </p:sp>
      <p:sp>
        <p:nvSpPr>
          <p:cNvPr id="29" name="Video caption"/>
          <p:cNvSpPr txBox="1"/>
          <p:nvPr/>
        </p:nvSpPr>
        <p:spPr>
          <a:xfrm>
            <a:off x="6199632" y="4846320"/>
            <a:ext cx="5440680" cy="320040"/>
          </a:xfrm>
          <a:prstGeom prst="rect">
            <a:avLst/>
          </a:prstGeom>
          <a:noFill/>
        </p:spPr>
        <p:txBody>
          <a:bodyPr wrap="square" lIns="0" rIns="0" tIns="0" bIns="0" anchor="t">
            <a:spAutoFit/>
          </a:bodyPr>
          <a:lstStyle/>
          <a:p>
            <a:pPr algn="l"/>
            <a:r>
              <a:rPr sz="1600" b="1" i="0">
                <a:solidFill>
                  <a:srgbClr val="FFFFFF"/>
                </a:solidFill>
                <a:latin typeface="Arial"/>
              </a:rPr>
              <a:t>Case 5 · Target behind and below</a:t>
            </a:r>
          </a:p>
        </p:txBody>
      </p:sp>
      <p:sp>
        <p:nvSpPr>
          <p:cNvPr id="30" name="Timeline event"/>
          <p:cNvSpPr/>
          <p:nvPr/>
        </p:nvSpPr>
        <p:spPr>
          <a:xfrm>
            <a:off x="6199632" y="5257800"/>
            <a:ext cx="1291590" cy="914400"/>
          </a:xfrm>
          <a:prstGeom prst="roundRect">
            <a:avLst>
              <a:gd name="adj" fmla="val 8000"/>
            </a:avLst>
          </a:prstGeom>
          <a:solidFill>
            <a:srgbClr val="132E48"/>
          </a:solidFill>
          <a:ln>
            <a:noFill/>
          </a:ln>
        </p:spPr>
        <p:txBody>
          <a:bodyPr rtlCol="0" anchor="ctr"/>
          <a:lstStyle/>
          <a:p/>
        </p:txBody>
      </p:sp>
      <p:sp>
        <p:nvSpPr>
          <p:cNvPr id="31" name="TextBox 30"/>
          <p:cNvSpPr txBox="1"/>
          <p:nvPr/>
        </p:nvSpPr>
        <p:spPr>
          <a:xfrm>
            <a:off x="6309360" y="5330952"/>
            <a:ext cx="1108710" cy="320040"/>
          </a:xfrm>
          <a:prstGeom prst="rect">
            <a:avLst/>
          </a:prstGeom>
          <a:noFill/>
        </p:spPr>
        <p:txBody>
          <a:bodyPr wrap="square" lIns="0" rIns="0" tIns="0" bIns="0" anchor="t">
            <a:spAutoFit/>
          </a:bodyPr>
          <a:lstStyle/>
          <a:p>
            <a:pPr algn="l"/>
            <a:r>
              <a:rPr sz="1500" b="1" i="0">
                <a:solidFill>
                  <a:srgbClr val="F2C230"/>
                </a:solidFill>
                <a:latin typeface="Arial"/>
              </a:rPr>
              <a:t>72 s</a:t>
            </a:r>
          </a:p>
        </p:txBody>
      </p:sp>
      <p:sp>
        <p:nvSpPr>
          <p:cNvPr id="32" name="TextBox 31"/>
          <p:cNvSpPr txBox="1"/>
          <p:nvPr/>
        </p:nvSpPr>
        <p:spPr>
          <a:xfrm>
            <a:off x="6309360" y="5669280"/>
            <a:ext cx="1108710" cy="457200"/>
          </a:xfrm>
          <a:prstGeom prst="rect">
            <a:avLst/>
          </a:prstGeom>
          <a:noFill/>
        </p:spPr>
        <p:txBody>
          <a:bodyPr wrap="square" lIns="0" rIns="0" tIns="0" bIns="0" anchor="t">
            <a:spAutoFit/>
          </a:bodyPr>
          <a:lstStyle/>
          <a:p>
            <a:pPr algn="l"/>
            <a:r>
              <a:rPr sz="1100" b="0" i="0">
                <a:solidFill>
                  <a:srgbClr val="FFFFFF"/>
                </a:solidFill>
                <a:latin typeface="Arial"/>
              </a:rPr>
              <a:t>found by search</a:t>
            </a:r>
          </a:p>
        </p:txBody>
      </p:sp>
      <p:sp>
        <p:nvSpPr>
          <p:cNvPr id="33" name="Timeline event"/>
          <p:cNvSpPr/>
          <p:nvPr/>
        </p:nvSpPr>
        <p:spPr>
          <a:xfrm>
            <a:off x="7582662" y="5257800"/>
            <a:ext cx="1291590" cy="914400"/>
          </a:xfrm>
          <a:prstGeom prst="roundRect">
            <a:avLst>
              <a:gd name="adj" fmla="val 8000"/>
            </a:avLst>
          </a:prstGeom>
          <a:solidFill>
            <a:srgbClr val="132E48"/>
          </a:solidFill>
          <a:ln>
            <a:noFill/>
          </a:ln>
        </p:spPr>
        <p:txBody>
          <a:bodyPr rtlCol="0" anchor="ctr"/>
          <a:lstStyle/>
          <a:p/>
        </p:txBody>
      </p:sp>
      <p:sp>
        <p:nvSpPr>
          <p:cNvPr id="34" name="TextBox 33"/>
          <p:cNvSpPr txBox="1"/>
          <p:nvPr/>
        </p:nvSpPr>
        <p:spPr>
          <a:xfrm>
            <a:off x="7692390" y="5330952"/>
            <a:ext cx="1108710" cy="320040"/>
          </a:xfrm>
          <a:prstGeom prst="rect">
            <a:avLst/>
          </a:prstGeom>
          <a:noFill/>
        </p:spPr>
        <p:txBody>
          <a:bodyPr wrap="square" lIns="0" rIns="0" tIns="0" bIns="0" anchor="t">
            <a:spAutoFit/>
          </a:bodyPr>
          <a:lstStyle/>
          <a:p>
            <a:pPr algn="l"/>
            <a:r>
              <a:rPr sz="1500" b="1" i="0">
                <a:solidFill>
                  <a:srgbClr val="F2C230"/>
                </a:solidFill>
                <a:latin typeface="Arial"/>
              </a:rPr>
              <a:t>114 s</a:t>
            </a:r>
          </a:p>
        </p:txBody>
      </p:sp>
      <p:sp>
        <p:nvSpPr>
          <p:cNvPr id="35" name="TextBox 34"/>
          <p:cNvSpPr txBox="1"/>
          <p:nvPr/>
        </p:nvSpPr>
        <p:spPr>
          <a:xfrm>
            <a:off x="7692390" y="5669280"/>
            <a:ext cx="1108710" cy="457200"/>
          </a:xfrm>
          <a:prstGeom prst="rect">
            <a:avLst/>
          </a:prstGeom>
          <a:noFill/>
        </p:spPr>
        <p:txBody>
          <a:bodyPr wrap="square" lIns="0" rIns="0" tIns="0" bIns="0" anchor="t">
            <a:spAutoFit/>
          </a:bodyPr>
          <a:lstStyle/>
          <a:p>
            <a:pPr algn="l"/>
            <a:r>
              <a:rPr sz="1100" b="0" i="0">
                <a:solidFill>
                  <a:srgbClr val="FFFFFF"/>
                </a:solidFill>
                <a:latin typeface="Arial"/>
              </a:rPr>
              <a:t>yaw + depth aligned</a:t>
            </a:r>
          </a:p>
        </p:txBody>
      </p:sp>
      <p:sp>
        <p:nvSpPr>
          <p:cNvPr id="36" name="Timeline event"/>
          <p:cNvSpPr/>
          <p:nvPr/>
        </p:nvSpPr>
        <p:spPr>
          <a:xfrm>
            <a:off x="8965692" y="5257800"/>
            <a:ext cx="1291590" cy="914400"/>
          </a:xfrm>
          <a:prstGeom prst="roundRect">
            <a:avLst>
              <a:gd name="adj" fmla="val 8000"/>
            </a:avLst>
          </a:prstGeom>
          <a:solidFill>
            <a:srgbClr val="132E48"/>
          </a:solidFill>
          <a:ln>
            <a:noFill/>
          </a:ln>
        </p:spPr>
        <p:txBody>
          <a:bodyPr rtlCol="0" anchor="ctr"/>
          <a:lstStyle/>
          <a:p/>
        </p:txBody>
      </p:sp>
      <p:sp>
        <p:nvSpPr>
          <p:cNvPr id="37" name="TextBox 36"/>
          <p:cNvSpPr txBox="1"/>
          <p:nvPr/>
        </p:nvSpPr>
        <p:spPr>
          <a:xfrm>
            <a:off x="9075419" y="5330952"/>
            <a:ext cx="1108710" cy="320040"/>
          </a:xfrm>
          <a:prstGeom prst="rect">
            <a:avLst/>
          </a:prstGeom>
          <a:noFill/>
        </p:spPr>
        <p:txBody>
          <a:bodyPr wrap="square" lIns="0" rIns="0" tIns="0" bIns="0" anchor="t">
            <a:spAutoFit/>
          </a:bodyPr>
          <a:lstStyle/>
          <a:p>
            <a:pPr algn="l"/>
            <a:r>
              <a:rPr sz="1500" b="1" i="0">
                <a:solidFill>
                  <a:srgbClr val="F2C230"/>
                </a:solidFill>
                <a:latin typeface="Arial"/>
              </a:rPr>
              <a:t>167 s</a:t>
            </a:r>
          </a:p>
        </p:txBody>
      </p:sp>
      <p:sp>
        <p:nvSpPr>
          <p:cNvPr id="38" name="TextBox 37"/>
          <p:cNvSpPr txBox="1"/>
          <p:nvPr/>
        </p:nvSpPr>
        <p:spPr>
          <a:xfrm>
            <a:off x="9075419" y="5669280"/>
            <a:ext cx="1108710" cy="457200"/>
          </a:xfrm>
          <a:prstGeom prst="rect">
            <a:avLst/>
          </a:prstGeom>
          <a:noFill/>
        </p:spPr>
        <p:txBody>
          <a:bodyPr wrap="square" lIns="0" rIns="0" tIns="0" bIns="0" anchor="t">
            <a:spAutoFit/>
          </a:bodyPr>
          <a:lstStyle/>
          <a:p>
            <a:pPr algn="l"/>
            <a:r>
              <a:rPr sz="1100" b="0" i="0">
                <a:solidFill>
                  <a:srgbClr val="FFFFFF"/>
                </a:solidFill>
                <a:latin typeface="Arial"/>
              </a:rPr>
              <a:t>stops 0.35 m away</a:t>
            </a:r>
          </a:p>
        </p:txBody>
      </p:sp>
      <p:sp>
        <p:nvSpPr>
          <p:cNvPr id="39" name="Timeline event"/>
          <p:cNvSpPr/>
          <p:nvPr/>
        </p:nvSpPr>
        <p:spPr>
          <a:xfrm>
            <a:off x="10348722" y="5257800"/>
            <a:ext cx="1291590" cy="914400"/>
          </a:xfrm>
          <a:prstGeom prst="roundRect">
            <a:avLst>
              <a:gd name="adj" fmla="val 8000"/>
            </a:avLst>
          </a:prstGeom>
          <a:solidFill>
            <a:srgbClr val="132E48"/>
          </a:solidFill>
          <a:ln>
            <a:noFill/>
          </a:ln>
        </p:spPr>
        <p:txBody>
          <a:bodyPr rtlCol="0" anchor="ctr"/>
          <a:lstStyle/>
          <a:p/>
        </p:txBody>
      </p:sp>
      <p:sp>
        <p:nvSpPr>
          <p:cNvPr id="40" name="TextBox 39"/>
          <p:cNvSpPr txBox="1"/>
          <p:nvPr/>
        </p:nvSpPr>
        <p:spPr>
          <a:xfrm>
            <a:off x="10458450" y="5330952"/>
            <a:ext cx="1108710" cy="320040"/>
          </a:xfrm>
          <a:prstGeom prst="rect">
            <a:avLst/>
          </a:prstGeom>
          <a:noFill/>
        </p:spPr>
        <p:txBody>
          <a:bodyPr wrap="square" lIns="0" rIns="0" tIns="0" bIns="0" anchor="t">
            <a:spAutoFit/>
          </a:bodyPr>
          <a:lstStyle/>
          <a:p>
            <a:pPr algn="l"/>
            <a:r>
              <a:rPr sz="1500" b="1" i="0">
                <a:solidFill>
                  <a:srgbClr val="F2C230"/>
                </a:solidFill>
                <a:latin typeface="Arial"/>
              </a:rPr>
              <a:t>253 s</a:t>
            </a:r>
          </a:p>
        </p:txBody>
      </p:sp>
      <p:sp>
        <p:nvSpPr>
          <p:cNvPr id="41" name="TextBox 40"/>
          <p:cNvSpPr txBox="1"/>
          <p:nvPr/>
        </p:nvSpPr>
        <p:spPr>
          <a:xfrm>
            <a:off x="10458450" y="5669280"/>
            <a:ext cx="1108710" cy="457200"/>
          </a:xfrm>
          <a:prstGeom prst="rect">
            <a:avLst/>
          </a:prstGeom>
          <a:noFill/>
        </p:spPr>
        <p:txBody>
          <a:bodyPr wrap="square" lIns="0" rIns="0" tIns="0" bIns="0" anchor="t">
            <a:spAutoFit/>
          </a:bodyPr>
          <a:lstStyle/>
          <a:p>
            <a:pPr algn="l"/>
            <a:r>
              <a:rPr sz="1100" b="0" i="0">
                <a:solidFill>
                  <a:srgbClr val="FFFFFF"/>
                </a:solidFill>
                <a:latin typeface="Arial"/>
              </a:rPr>
              <a:t>surfaced</a:t>
            </a:r>
          </a:p>
        </p:txBody>
      </p:sp>
      <p:sp>
        <p:nvSpPr>
          <p:cNvPr id="42" name="TextBox 41"/>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8FA9B8"/>
                </a:solidFill>
                <a:latin typeface="Arial"/>
              </a:rPr>
              <a:t>Kyushu Project  ·  Autonomous underwater ROV</a:t>
            </a:r>
          </a:p>
        </p:txBody>
      </p:sp>
      <p:sp>
        <p:nvSpPr>
          <p:cNvPr id="43" name="TextBox 42"/>
          <p:cNvSpPr txBox="1"/>
          <p:nvPr/>
        </p:nvSpPr>
        <p:spPr>
          <a:xfrm>
            <a:off x="10725912" y="6400800"/>
            <a:ext cx="914400" cy="274320"/>
          </a:xfrm>
          <a:prstGeom prst="rect">
            <a:avLst/>
          </a:prstGeom>
          <a:noFill/>
        </p:spPr>
        <p:txBody>
          <a:bodyPr wrap="square" lIns="0" rIns="0" tIns="0" bIns="0" anchor="t">
            <a:spAutoFit/>
          </a:bodyPr>
          <a:lstStyle/>
          <a:p>
            <a:pPr algn="r"/>
            <a:r>
              <a:rPr sz="1000" b="0" i="0">
                <a:solidFill>
                  <a:srgbClr val="8FA9B8"/>
                </a:solidFill>
                <a:latin typeface="Arial"/>
              </a:rP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Title 1"/>
          <p:cNvSpPr>
            <a:spLocks noGrp="1"/>
          </p:cNvSpPr>
          <p:nvPr>
            <p:ph type="title"/>
          </p:nvPr>
        </p:nvSpPr>
        <p:spPr>
          <a:xfrm>
            <a:off x="548640" y="384048"/>
            <a:ext cx="11064240" cy="685800"/>
          </a:xfrm>
        </p:spPr>
        <p:txBody>
          <a:bodyPr lIns="0" rIns="0" tIns="0" bIns="0" anchor="t" wrap="square"/>
          <a:lstStyle/>
          <a:p>
            <a:pPr algn="l"/>
            <a:r>
              <a:rPr sz="3200" b="1">
                <a:solidFill>
                  <a:srgbClr val="FFFFFF"/>
                </a:solidFill>
                <a:latin typeface="Arial"/>
              </a:rPr>
              <a:t>ROV mode and the path to the real robot</a:t>
            </a:r>
          </a:p>
        </p:txBody>
      </p:sp>
      <p:sp>
        <p:nvSpPr>
          <p:cNvPr id="3" name="TextBox 2"/>
          <p:cNvSpPr txBox="1"/>
          <p:nvPr/>
        </p:nvSpPr>
        <p:spPr>
          <a:xfrm>
            <a:off x="548640" y="1078992"/>
            <a:ext cx="11064240" cy="365760"/>
          </a:xfrm>
          <a:prstGeom prst="rect">
            <a:avLst/>
          </a:prstGeom>
          <a:noFill/>
        </p:spPr>
        <p:txBody>
          <a:bodyPr wrap="square" lIns="0" rIns="0" tIns="0" bIns="0" anchor="t">
            <a:spAutoFit/>
          </a:bodyPr>
          <a:lstStyle/>
          <a:p>
            <a:pPr algn="l"/>
            <a:r>
              <a:rPr sz="1500" b="0" i="0">
                <a:solidFill>
                  <a:srgbClr val="5FC9C2"/>
                </a:solidFill>
                <a:latin typeface="Arial"/>
              </a:rPr>
              <a:t>Manual ROV operation alongside autonomy, and what has to happen before pool trials</a:t>
            </a:r>
          </a:p>
        </p:txBody>
      </p:sp>
      <p:grpSp>
        <p:nvGrpSpPr>
          <p:cNvPr id="4" name="VIDEO 3 PLACEHOLDER - delete and insert video here"/>
          <p:cNvGrpSpPr/>
          <p:nvPr/>
        </p:nvGrpSpPr>
        <p:grpSpPr>
          <a:xfrm>
            <a:off x="548640" y="1645920"/>
            <a:ext cx="5852160" cy="3291840"/>
            <a:chOff x="548640" y="1645920"/>
            <a:chExt cx="5852160" cy="3291840"/>
          </a:xfrm>
        </p:grpSpPr>
        <p:sp>
          <p:nvSpPr>
            <p:cNvPr id="5" name="Rounded Rectangle 4"/>
            <p:cNvSpPr/>
            <p:nvPr/>
          </p:nvSpPr>
          <p:spPr>
            <a:xfrm>
              <a:off x="548640" y="1645920"/>
              <a:ext cx="5852160" cy="3291840"/>
            </a:xfrm>
            <a:prstGeom prst="roundRect">
              <a:avLst>
                <a:gd name="adj" fmla="val 4000"/>
              </a:avLst>
            </a:prstGeom>
            <a:solidFill>
              <a:srgbClr val="071626"/>
            </a:solidFill>
            <a:ln w="19050">
              <a:solidFill>
                <a:srgbClr val="5FC9C2"/>
              </a:solidFill>
              <a:prstDash val="dash"/>
            </a:ln>
          </p:spPr>
          <p:txBody>
            <a:bodyPr rtlCol="0" anchor="ctr"/>
            <a:lstStyle/>
            <a:p>
              <a:pPr algn="ctr"/>
            </a:p>
          </p:txBody>
        </p:sp>
        <p:sp>
          <p:nvSpPr>
            <p:cNvPr id="6" name="Oval 5"/>
            <p:cNvSpPr/>
            <p:nvPr/>
          </p:nvSpPr>
          <p:spPr>
            <a:xfrm>
              <a:off x="3040380" y="2537460"/>
              <a:ext cx="868680" cy="868680"/>
            </a:xfrm>
            <a:prstGeom prst="ellipse">
              <a:avLst/>
            </a:prstGeom>
            <a:solidFill>
              <a:srgbClr val="F2C230"/>
            </a:solidFill>
            <a:ln>
              <a:noFill/>
            </a:ln>
          </p:spPr>
          <p:txBody>
            <a:bodyPr rtlCol="0" anchor="ctr"/>
            <a:lstStyle/>
            <a:p>
              <a:pPr algn="ctr"/>
            </a:p>
          </p:txBody>
        </p:sp>
        <p:sp>
          <p:nvSpPr>
            <p:cNvPr id="7" name="Isosceles Triangle 6"/>
            <p:cNvSpPr/>
            <p:nvPr/>
          </p:nvSpPr>
          <p:spPr>
            <a:xfrm rot="5400000">
              <a:off x="3342132" y="2766060"/>
              <a:ext cx="384048" cy="411480"/>
            </a:xfrm>
            <a:prstGeom prst="triangle">
              <a:avLst/>
            </a:prstGeom>
            <a:solidFill>
              <a:srgbClr val="0B1F33"/>
            </a:solidFill>
            <a:ln>
              <a:noFill/>
            </a:ln>
          </p:spPr>
          <p:txBody>
            <a:bodyPr rtlCol="0" anchor="ctr"/>
            <a:lstStyle/>
            <a:p>
              <a:pPr algn="ctr"/>
            </a:p>
          </p:txBody>
        </p:sp>
        <p:sp>
          <p:nvSpPr>
            <p:cNvPr id="8" name="TextBox 7"/>
            <p:cNvSpPr txBox="1"/>
            <p:nvPr/>
          </p:nvSpPr>
          <p:spPr>
            <a:xfrm>
              <a:off x="822959" y="3589020"/>
              <a:ext cx="5303520" cy="365760"/>
            </a:xfrm>
            <a:prstGeom prst="rect">
              <a:avLst/>
            </a:prstGeom>
            <a:noFill/>
          </p:spPr>
          <p:txBody>
            <a:bodyPr wrap="square" lIns="0" rIns="0" tIns="0" bIns="0">
              <a:spAutoFit/>
            </a:bodyPr>
            <a:lstStyle/>
            <a:p>
              <a:pPr algn="ctr"/>
              <a:r>
                <a:rPr sz="1800" b="1">
                  <a:solidFill>
                    <a:srgbClr val="FFFFFF"/>
                  </a:solidFill>
                  <a:latin typeface="Arial"/>
                </a:rPr>
                <a:t>Video 3</a:t>
              </a:r>
            </a:p>
          </p:txBody>
        </p:sp>
        <p:sp>
          <p:nvSpPr>
            <p:cNvPr id="9" name="TextBox 8"/>
            <p:cNvSpPr txBox="1"/>
            <p:nvPr/>
          </p:nvSpPr>
          <p:spPr>
            <a:xfrm>
              <a:off x="822959" y="3973068"/>
              <a:ext cx="5303520" cy="365760"/>
            </a:xfrm>
            <a:prstGeom prst="rect">
              <a:avLst/>
            </a:prstGeom>
            <a:noFill/>
          </p:spPr>
          <p:txBody>
            <a:bodyPr wrap="square" lIns="0" rIns="0" tIns="0" bIns="0">
              <a:spAutoFit/>
            </a:bodyPr>
            <a:lstStyle/>
            <a:p>
              <a:pPr algn="ctr"/>
              <a:r>
                <a:rPr sz="1200" b="0">
                  <a:solidFill>
                    <a:srgbClr val="5FC9C2"/>
                  </a:solidFill>
                  <a:latin typeface="Arial"/>
                </a:rPr>
                <a:t>Insert the ROV mode recording here</a:t>
              </a:r>
            </a:p>
          </p:txBody>
        </p:sp>
      </p:grpSp>
      <p:sp>
        <p:nvSpPr>
          <p:cNvPr id="10" name="Video caption"/>
          <p:cNvSpPr txBox="1"/>
          <p:nvPr/>
        </p:nvSpPr>
        <p:spPr>
          <a:xfrm>
            <a:off x="548640" y="5074920"/>
            <a:ext cx="5852160" cy="320040"/>
          </a:xfrm>
          <a:prstGeom prst="rect">
            <a:avLst/>
          </a:prstGeom>
          <a:noFill/>
        </p:spPr>
        <p:txBody>
          <a:bodyPr wrap="square" lIns="0" rIns="0" tIns="0" bIns="0" anchor="t">
            <a:spAutoFit/>
          </a:bodyPr>
          <a:lstStyle/>
          <a:p>
            <a:pPr algn="l"/>
            <a:r>
              <a:rPr sz="1600" b="1" i="0">
                <a:solidFill>
                  <a:srgbClr val="FFFFFF"/>
                </a:solidFill>
                <a:latin typeface="Arial"/>
              </a:rPr>
              <a:t>ROV mode demonstration</a:t>
            </a:r>
          </a:p>
        </p:txBody>
      </p:sp>
      <p:sp>
        <p:nvSpPr>
          <p:cNvPr id="11" name="TextBox 10"/>
          <p:cNvSpPr txBox="1"/>
          <p:nvPr/>
        </p:nvSpPr>
        <p:spPr>
          <a:xfrm>
            <a:off x="548640" y="5440680"/>
            <a:ext cx="5852160" cy="731520"/>
          </a:xfrm>
          <a:prstGeom prst="rect">
            <a:avLst/>
          </a:prstGeom>
          <a:noFill/>
        </p:spPr>
        <p:txBody>
          <a:bodyPr wrap="square" lIns="0" rIns="0" tIns="0" bIns="0" anchor="t">
            <a:spAutoFit/>
          </a:bodyPr>
          <a:lstStyle/>
          <a:p>
            <a:pPr algn="l"/>
            <a:r>
              <a:rPr sz="1200" b="0" i="0">
                <a:solidFill>
                  <a:srgbClr val="8FA9B8"/>
                </a:solidFill>
                <a:latin typeface="Arial"/>
              </a:rPr>
              <a:t>Press M to switch between autonomous and manual. W/S forward and back, A/D turn, R/F up and down, SPACE stops all thrusters</a:t>
            </a:r>
          </a:p>
        </p:txBody>
      </p:sp>
      <p:sp>
        <p:nvSpPr>
          <p:cNvPr id="12" name="TextBox 11"/>
          <p:cNvSpPr txBox="1"/>
          <p:nvPr/>
        </p:nvSpPr>
        <p:spPr>
          <a:xfrm>
            <a:off x="6812280" y="1645920"/>
            <a:ext cx="4846320" cy="365760"/>
          </a:xfrm>
          <a:prstGeom prst="rect">
            <a:avLst/>
          </a:prstGeom>
          <a:noFill/>
        </p:spPr>
        <p:txBody>
          <a:bodyPr wrap="square" lIns="0" rIns="0" tIns="0" bIns="0" anchor="t">
            <a:spAutoFit/>
          </a:bodyPr>
          <a:lstStyle/>
          <a:p>
            <a:pPr algn="l"/>
            <a:r>
              <a:rPr sz="1800" b="1" i="0">
                <a:solidFill>
                  <a:srgbClr val="F2C230"/>
                </a:solidFill>
                <a:latin typeface="Arial"/>
              </a:rPr>
              <a:t>Next steps before pool trials</a:t>
            </a:r>
          </a:p>
        </p:txBody>
      </p:sp>
      <p:sp>
        <p:nvSpPr>
          <p:cNvPr id="13" name="Oval 12"/>
          <p:cNvSpPr/>
          <p:nvPr/>
        </p:nvSpPr>
        <p:spPr>
          <a:xfrm>
            <a:off x="6812280" y="2231136"/>
            <a:ext cx="411480" cy="411480"/>
          </a:xfrm>
          <a:prstGeom prst="ellipse">
            <a:avLst/>
          </a:prstGeom>
          <a:solidFill>
            <a:srgbClr val="0E7C86"/>
          </a:solidFill>
          <a:ln>
            <a:noFill/>
          </a:ln>
        </p:spPr>
        <p:txBody>
          <a:bodyPr rtlCol="0" anchor="ctr" lIns="0" rIns="0" tIns="0" bIns="0"/>
          <a:lstStyle/>
          <a:p>
            <a:pPr algn="ctr"/>
            <a:r>
              <a:rPr sz="1400" b="1">
                <a:solidFill>
                  <a:srgbClr val="FFFFFF"/>
                </a:solidFill>
                <a:latin typeface="Arial"/>
              </a:rPr>
              <a:t>1</a:t>
            </a:r>
          </a:p>
        </p:txBody>
      </p:sp>
      <p:sp>
        <p:nvSpPr>
          <p:cNvPr id="14" name="TextBox 13"/>
          <p:cNvSpPr txBox="1"/>
          <p:nvPr/>
        </p:nvSpPr>
        <p:spPr>
          <a:xfrm>
            <a:off x="7406640" y="2194560"/>
            <a:ext cx="4251960" cy="320040"/>
          </a:xfrm>
          <a:prstGeom prst="rect">
            <a:avLst/>
          </a:prstGeom>
          <a:noFill/>
        </p:spPr>
        <p:txBody>
          <a:bodyPr wrap="square" lIns="0" rIns="0" tIns="0" bIns="0" anchor="t">
            <a:spAutoFit/>
          </a:bodyPr>
          <a:lstStyle/>
          <a:p>
            <a:pPr algn="l"/>
            <a:r>
              <a:rPr sz="1500" b="1" i="0">
                <a:solidFill>
                  <a:srgbClr val="FFFFFF"/>
                </a:solidFill>
                <a:latin typeface="Arial"/>
              </a:rPr>
              <a:t>Retrain both YOLO models</a:t>
            </a:r>
          </a:p>
        </p:txBody>
      </p:sp>
      <p:sp>
        <p:nvSpPr>
          <p:cNvPr id="15" name="TextBox 14"/>
          <p:cNvSpPr txBox="1"/>
          <p:nvPr/>
        </p:nvSpPr>
        <p:spPr>
          <a:xfrm>
            <a:off x="7406640" y="2542032"/>
            <a:ext cx="4251960" cy="548640"/>
          </a:xfrm>
          <a:prstGeom prst="rect">
            <a:avLst/>
          </a:prstGeom>
          <a:noFill/>
        </p:spPr>
        <p:txBody>
          <a:bodyPr wrap="square" lIns="0" rIns="0" tIns="0" bIns="0" anchor="t">
            <a:spAutoFit/>
          </a:bodyPr>
          <a:lstStyle/>
          <a:p>
            <a:pPr algn="l"/>
            <a:r>
              <a:rPr sz="1200" b="0" i="0">
                <a:solidFill>
                  <a:srgbClr val="B8CCD6"/>
                </a:solidFill>
                <a:latin typeface="Arial"/>
              </a:rPr>
              <a:t>Add close-up target images (Stonefish) and low-light images (real camera)</a:t>
            </a:r>
          </a:p>
        </p:txBody>
      </p:sp>
      <p:sp>
        <p:nvSpPr>
          <p:cNvPr id="16" name="Oval 15"/>
          <p:cNvSpPr/>
          <p:nvPr/>
        </p:nvSpPr>
        <p:spPr>
          <a:xfrm>
            <a:off x="6812280" y="3255264"/>
            <a:ext cx="411480" cy="411480"/>
          </a:xfrm>
          <a:prstGeom prst="ellipse">
            <a:avLst/>
          </a:prstGeom>
          <a:solidFill>
            <a:srgbClr val="0E7C86"/>
          </a:solidFill>
          <a:ln>
            <a:noFill/>
          </a:ln>
        </p:spPr>
        <p:txBody>
          <a:bodyPr rtlCol="0" anchor="ctr" lIns="0" rIns="0" tIns="0" bIns="0"/>
          <a:lstStyle/>
          <a:p>
            <a:pPr algn="ctr"/>
            <a:r>
              <a:rPr sz="1400" b="1">
                <a:solidFill>
                  <a:srgbClr val="FFFFFF"/>
                </a:solidFill>
                <a:latin typeface="Arial"/>
              </a:rPr>
              <a:t>2</a:t>
            </a:r>
          </a:p>
        </p:txBody>
      </p:sp>
      <p:sp>
        <p:nvSpPr>
          <p:cNvPr id="17" name="TextBox 16"/>
          <p:cNvSpPr txBox="1"/>
          <p:nvPr/>
        </p:nvSpPr>
        <p:spPr>
          <a:xfrm>
            <a:off x="7406640" y="3218688"/>
            <a:ext cx="4251960" cy="320040"/>
          </a:xfrm>
          <a:prstGeom prst="rect">
            <a:avLst/>
          </a:prstGeom>
          <a:noFill/>
        </p:spPr>
        <p:txBody>
          <a:bodyPr wrap="square" lIns="0" rIns="0" tIns="0" bIns="0" anchor="t">
            <a:spAutoFit/>
          </a:bodyPr>
          <a:lstStyle/>
          <a:p>
            <a:pPr algn="l"/>
            <a:r>
              <a:rPr sz="1500" b="1" i="0">
                <a:solidFill>
                  <a:srgbClr val="FFFFFF"/>
                </a:solidFill>
                <a:latin typeface="Arial"/>
              </a:rPr>
              <a:t>Measure the real KYUBIC values</a:t>
            </a:r>
          </a:p>
        </p:txBody>
      </p:sp>
      <p:sp>
        <p:nvSpPr>
          <p:cNvPr id="18" name="TextBox 17"/>
          <p:cNvSpPr txBox="1"/>
          <p:nvPr/>
        </p:nvSpPr>
        <p:spPr>
          <a:xfrm>
            <a:off x="7406640" y="3566160"/>
            <a:ext cx="4251960" cy="548640"/>
          </a:xfrm>
          <a:prstGeom prst="rect">
            <a:avLst/>
          </a:prstGeom>
          <a:noFill/>
        </p:spPr>
        <p:txBody>
          <a:bodyPr wrap="square" lIns="0" rIns="0" tIns="0" bIns="0" anchor="t">
            <a:spAutoFit/>
          </a:bodyPr>
          <a:lstStyle/>
          <a:p>
            <a:pPr algn="l"/>
            <a:r>
              <a:rPr sz="1200" b="0" i="0">
                <a:solidFill>
                  <a:srgbClr val="B8CCD6"/>
                </a:solidFill>
                <a:latin typeface="Arial"/>
              </a:rPr>
              <a:t>Camera-to-front distance, target size, thrust and depth gains</a:t>
            </a:r>
          </a:p>
        </p:txBody>
      </p:sp>
      <p:sp>
        <p:nvSpPr>
          <p:cNvPr id="19" name="Oval 18"/>
          <p:cNvSpPr/>
          <p:nvPr/>
        </p:nvSpPr>
        <p:spPr>
          <a:xfrm>
            <a:off x="6812280" y="4279392"/>
            <a:ext cx="411480" cy="411480"/>
          </a:xfrm>
          <a:prstGeom prst="ellipse">
            <a:avLst/>
          </a:prstGeom>
          <a:solidFill>
            <a:srgbClr val="0E7C86"/>
          </a:solidFill>
          <a:ln>
            <a:noFill/>
          </a:ln>
        </p:spPr>
        <p:txBody>
          <a:bodyPr rtlCol="0" anchor="ctr" lIns="0" rIns="0" tIns="0" bIns="0"/>
          <a:lstStyle/>
          <a:p>
            <a:pPr algn="ctr"/>
            <a:r>
              <a:rPr sz="1400" b="1">
                <a:solidFill>
                  <a:srgbClr val="FFFFFF"/>
                </a:solidFill>
                <a:latin typeface="Arial"/>
              </a:rPr>
              <a:t>3</a:t>
            </a:r>
          </a:p>
        </p:txBody>
      </p:sp>
      <p:sp>
        <p:nvSpPr>
          <p:cNvPr id="20" name="TextBox 19"/>
          <p:cNvSpPr txBox="1"/>
          <p:nvPr/>
        </p:nvSpPr>
        <p:spPr>
          <a:xfrm>
            <a:off x="7406640" y="4242816"/>
            <a:ext cx="4251960" cy="320040"/>
          </a:xfrm>
          <a:prstGeom prst="rect">
            <a:avLst/>
          </a:prstGeom>
          <a:noFill/>
        </p:spPr>
        <p:txBody>
          <a:bodyPr wrap="square" lIns="0" rIns="0" tIns="0" bIns="0" anchor="t">
            <a:spAutoFit/>
          </a:bodyPr>
          <a:lstStyle/>
          <a:p>
            <a:pPr algn="l"/>
            <a:r>
              <a:rPr sz="1500" b="1" i="0">
                <a:solidFill>
                  <a:srgbClr val="FFFFFF"/>
                </a:solidFill>
                <a:latin typeface="Arial"/>
              </a:rPr>
              <a:t>Verify odometry / DVL accuracy</a:t>
            </a:r>
          </a:p>
        </p:txBody>
      </p:sp>
      <p:sp>
        <p:nvSpPr>
          <p:cNvPr id="21" name="TextBox 20"/>
          <p:cNvSpPr txBox="1"/>
          <p:nvPr/>
        </p:nvSpPr>
        <p:spPr>
          <a:xfrm>
            <a:off x="7406640" y="4590288"/>
            <a:ext cx="4251960" cy="548640"/>
          </a:xfrm>
          <a:prstGeom prst="rect">
            <a:avLst/>
          </a:prstGeom>
          <a:noFill/>
        </p:spPr>
        <p:txBody>
          <a:bodyPr wrap="square" lIns="0" rIns="0" tIns="0" bIns="0" anchor="t">
            <a:spAutoFit/>
          </a:bodyPr>
          <a:lstStyle/>
          <a:p>
            <a:pPr algn="l"/>
            <a:r>
              <a:rPr sz="1200" b="0" i="0">
                <a:solidFill>
                  <a:srgbClr val="B8CCD6"/>
                </a:solidFill>
                <a:latin typeface="Arial"/>
              </a:rPr>
              <a:t>The last 1.2 m of the approach relies on it</a:t>
            </a:r>
          </a:p>
        </p:txBody>
      </p:sp>
      <p:sp>
        <p:nvSpPr>
          <p:cNvPr id="22" name="Oval 21"/>
          <p:cNvSpPr/>
          <p:nvPr/>
        </p:nvSpPr>
        <p:spPr>
          <a:xfrm>
            <a:off x="6812280" y="5303520"/>
            <a:ext cx="411480" cy="411480"/>
          </a:xfrm>
          <a:prstGeom prst="ellipse">
            <a:avLst/>
          </a:prstGeom>
          <a:solidFill>
            <a:srgbClr val="0E7C86"/>
          </a:solidFill>
          <a:ln>
            <a:noFill/>
          </a:ln>
        </p:spPr>
        <p:txBody>
          <a:bodyPr rtlCol="0" anchor="ctr" lIns="0" rIns="0" tIns="0" bIns="0"/>
          <a:lstStyle/>
          <a:p>
            <a:pPr algn="ctr"/>
            <a:r>
              <a:rPr sz="1400" b="1">
                <a:solidFill>
                  <a:srgbClr val="FFFFFF"/>
                </a:solidFill>
                <a:latin typeface="Arial"/>
              </a:rPr>
              <a:t>4</a:t>
            </a:r>
          </a:p>
        </p:txBody>
      </p:sp>
      <p:sp>
        <p:nvSpPr>
          <p:cNvPr id="23" name="TextBox 22"/>
          <p:cNvSpPr txBox="1"/>
          <p:nvPr/>
        </p:nvSpPr>
        <p:spPr>
          <a:xfrm>
            <a:off x="7406640" y="5266944"/>
            <a:ext cx="4251960" cy="320040"/>
          </a:xfrm>
          <a:prstGeom prst="rect">
            <a:avLst/>
          </a:prstGeom>
          <a:noFill/>
        </p:spPr>
        <p:txBody>
          <a:bodyPr wrap="square" lIns="0" rIns="0" tIns="0" bIns="0" anchor="t">
            <a:spAutoFit/>
          </a:bodyPr>
          <a:lstStyle/>
          <a:p>
            <a:pPr algn="l"/>
            <a:r>
              <a:rPr sz="1500" b="1" i="0">
                <a:solidFill>
                  <a:srgbClr val="FFFFFF"/>
                </a:solidFill>
                <a:latin typeface="Arial"/>
              </a:rPr>
              <a:t>Tethered, slow first trials</a:t>
            </a:r>
          </a:p>
        </p:txBody>
      </p:sp>
      <p:sp>
        <p:nvSpPr>
          <p:cNvPr id="24" name="TextBox 23"/>
          <p:cNvSpPr txBox="1"/>
          <p:nvPr/>
        </p:nvSpPr>
        <p:spPr>
          <a:xfrm>
            <a:off x="7406640" y="5614416"/>
            <a:ext cx="4251960" cy="548640"/>
          </a:xfrm>
          <a:prstGeom prst="rect">
            <a:avLst/>
          </a:prstGeom>
          <a:noFill/>
        </p:spPr>
        <p:txBody>
          <a:bodyPr wrap="square" lIns="0" rIns="0" tIns="0" bIns="0" anchor="t">
            <a:spAutoFit/>
          </a:bodyPr>
          <a:lstStyle/>
          <a:p>
            <a:pPr algn="l"/>
            <a:r>
              <a:rPr sz="1200" b="0" i="0">
                <a:solidFill>
                  <a:srgbClr val="B8CCD6"/>
                </a:solidFill>
                <a:latin typeface="Arial"/>
              </a:rPr>
              <a:t>Start below the simulated speeds and widen the stop distance</a:t>
            </a:r>
          </a:p>
        </p:txBody>
      </p:sp>
      <p:sp>
        <p:nvSpPr>
          <p:cNvPr id="25" name="TextBox 24"/>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8FA9B8"/>
                </a:solidFill>
                <a:latin typeface="Arial"/>
              </a:rPr>
              <a:t>Kyushu Project  ·  Autonomous underwater ROV</a:t>
            </a:r>
          </a:p>
        </p:txBody>
      </p:sp>
      <p:sp>
        <p:nvSpPr>
          <p:cNvPr id="26" name="TextBox 25"/>
          <p:cNvSpPr txBox="1"/>
          <p:nvPr/>
        </p:nvSpPr>
        <p:spPr>
          <a:xfrm>
            <a:off x="10725912" y="6400800"/>
            <a:ext cx="914400" cy="274320"/>
          </a:xfrm>
          <a:prstGeom prst="rect">
            <a:avLst/>
          </a:prstGeom>
          <a:noFill/>
        </p:spPr>
        <p:txBody>
          <a:bodyPr wrap="square" lIns="0" rIns="0" tIns="0" bIns="0" anchor="t">
            <a:spAutoFit/>
          </a:bodyPr>
          <a:lstStyle/>
          <a:p>
            <a:pPr algn="r"/>
            <a:r>
              <a:rPr sz="1000" b="0" i="0">
                <a:solidFill>
                  <a:srgbClr val="8FA9B8"/>
                </a:solidFill>
                <a:latin typeface="Arial"/>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